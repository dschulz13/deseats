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95" r:id="rId4"/>
    <p:sldId id="296" r:id="rId5"/>
    <p:sldId id="297" r:id="rId6"/>
    <p:sldId id="313" r:id="rId7"/>
    <p:sldId id="299" r:id="rId8"/>
    <p:sldId id="316" r:id="rId9"/>
    <p:sldId id="300" r:id="rId10"/>
    <p:sldId id="302" r:id="rId11"/>
    <p:sldId id="315" r:id="rId12"/>
    <p:sldId id="304" r:id="rId13"/>
    <p:sldId id="305" r:id="rId14"/>
    <p:sldId id="306" r:id="rId15"/>
    <p:sldId id="312" r:id="rId16"/>
    <p:sldId id="307" r:id="rId17"/>
    <p:sldId id="308" r:id="rId18"/>
    <p:sldId id="309" r:id="rId19"/>
    <p:sldId id="310" r:id="rId20"/>
    <p:sldId id="311" r:id="rId21"/>
  </p:sldIdLst>
  <p:sldSz cx="9144000" cy="6858000" type="screen4x3"/>
  <p:notesSz cx="6858000" cy="973455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  <p:clrMru>
    <a:srgbClr val="FF0000"/>
    <a:srgbClr val="C60000"/>
    <a:srgbClr val="777777"/>
    <a:srgbClr val="C0C0C0"/>
    <a:srgbClr val="919191"/>
    <a:srgbClr val="FF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99" autoAdjust="0"/>
    <p:restoredTop sz="99632" autoAdjust="0"/>
  </p:normalViewPr>
  <p:slideViewPr>
    <p:cSldViewPr>
      <p:cViewPr varScale="1">
        <p:scale>
          <a:sx n="71" d="100"/>
          <a:sy n="71" d="100"/>
        </p:scale>
        <p:origin x="-28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32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50.wmf"/><Relationship Id="rId2" Type="http://schemas.openxmlformats.org/officeDocument/2006/relationships/image" Target="../media/image37.wmf"/><Relationship Id="rId1" Type="http://schemas.openxmlformats.org/officeDocument/2006/relationships/image" Target="../media/image47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8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6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46133"/>
            <a:ext cx="2971800" cy="48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6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9246133"/>
            <a:ext cx="2971800" cy="48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816E470-BF73-4539-99D9-E305C50254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8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6950" y="730250"/>
            <a:ext cx="4864100" cy="3649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23911"/>
            <a:ext cx="5486400" cy="438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noProof="0" smtClean="0"/>
              <a:t>Textmasterformate durch Klicken bearbeiten</a:t>
            </a:r>
          </a:p>
          <a:p>
            <a:pPr lvl="1"/>
            <a:r>
              <a:rPr lang="de-DE" altLang="zh-CN" noProof="0" smtClean="0"/>
              <a:t>Zweite Ebene</a:t>
            </a:r>
          </a:p>
          <a:p>
            <a:pPr lvl="2"/>
            <a:r>
              <a:rPr lang="de-DE" altLang="zh-CN" noProof="0" smtClean="0"/>
              <a:t>Dritte Ebene</a:t>
            </a:r>
          </a:p>
          <a:p>
            <a:pPr lvl="3"/>
            <a:r>
              <a:rPr lang="de-DE" altLang="zh-CN" noProof="0" smtClean="0"/>
              <a:t>Vierte Ebene</a:t>
            </a:r>
          </a:p>
          <a:p>
            <a:pPr lvl="4"/>
            <a:r>
              <a:rPr lang="de-DE" altLang="zh-CN" noProof="0" smtClean="0"/>
              <a:t>Fünfte Ebene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46133"/>
            <a:ext cx="2971800" cy="48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 altLang="zh-CN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9246133"/>
            <a:ext cx="2971800" cy="48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A9E5074-CE9D-4779-986E-320E59D0C86C}" type="slidenum">
              <a:rPr lang="zh-CN" altLang="de-DE"/>
              <a:pPr>
                <a:defRPr/>
              </a:pPr>
              <a:t>‹#›</a:t>
            </a:fld>
            <a:endParaRPr lang="de-D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9E5074-CE9D-4779-986E-320E59D0C86C}" type="slidenum">
              <a:rPr lang="zh-CN" altLang="de-DE" smtClean="0"/>
              <a:pPr>
                <a:defRPr/>
              </a:pPr>
              <a:t>3</a:t>
            </a:fld>
            <a:endParaRPr lang="de-DE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9E5074-CE9D-4779-986E-320E59D0C86C}" type="slidenum">
              <a:rPr lang="zh-CN" altLang="de-DE" smtClean="0"/>
              <a:pPr>
                <a:defRPr/>
              </a:pPr>
              <a:t>4</a:t>
            </a:fld>
            <a:endParaRPr lang="de-DE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9E5074-CE9D-4779-986E-320E59D0C86C}" type="slidenum">
              <a:rPr lang="zh-CN" altLang="de-DE" smtClean="0"/>
              <a:pPr>
                <a:defRPr/>
              </a:pPr>
              <a:t>6</a:t>
            </a:fld>
            <a:endParaRPr lang="de-DE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9E5074-CE9D-4779-986E-320E59D0C86C}" type="slidenum">
              <a:rPr lang="zh-CN" altLang="de-DE" smtClean="0"/>
              <a:pPr>
                <a:defRPr/>
              </a:pPr>
              <a:t>8</a:t>
            </a:fld>
            <a:endParaRPr lang="de-DE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9E5074-CE9D-4779-986E-320E59D0C86C}" type="slidenum">
              <a:rPr lang="zh-CN" altLang="de-DE" smtClean="0"/>
              <a:pPr>
                <a:defRPr/>
              </a:pPr>
              <a:t>9</a:t>
            </a:fld>
            <a:endParaRPr lang="de-DE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9E5074-CE9D-4779-986E-320E59D0C86C}" type="slidenum">
              <a:rPr lang="zh-CN" altLang="de-DE" smtClean="0"/>
              <a:pPr>
                <a:defRPr/>
              </a:pPr>
              <a:t>13</a:t>
            </a:fld>
            <a:endParaRPr lang="de-DE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However,we</a:t>
            </a:r>
            <a:r>
              <a:rPr lang="en-US" altLang="zh-CN" dirty="0" smtClean="0"/>
              <a:t> only consider AR model for simplicity,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9E5074-CE9D-4779-986E-320E59D0C86C}" type="slidenum">
              <a:rPr lang="zh-CN" altLang="de-DE" smtClean="0"/>
              <a:pPr>
                <a:defRPr/>
              </a:pPr>
              <a:t>17</a:t>
            </a:fld>
            <a:endParaRPr lang="de-DE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A9E5074-CE9D-4779-986E-320E59D0C86C}" type="slidenum">
              <a:rPr lang="zh-CN" altLang="de-DE" smtClean="0"/>
              <a:pPr>
                <a:defRPr/>
              </a:pPr>
              <a:t>19</a:t>
            </a:fld>
            <a:endParaRPr lang="de-DE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3195638"/>
            <a:ext cx="9144000" cy="6858001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665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rgbClr val="FFFFFF"/>
                </a:solidFill>
              </a:defRPr>
            </a:lvl1pPr>
          </a:lstStyle>
          <a:p>
            <a:r>
              <a:rPr lang="de-DE" altLang="zh-CN"/>
              <a:t>Titelmasterformat durch Klicken bearbeiten</a:t>
            </a:r>
          </a:p>
        </p:txBody>
      </p:sp>
      <p:sp>
        <p:nvSpPr>
          <p:cNvPr id="665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de-DE" altLang="zh-CN"/>
              <a:t>Formatvorlage des Untertitelmasters durch Klicken bearbeiten</a:t>
            </a:r>
          </a:p>
        </p:txBody>
      </p:sp>
      <p:sp>
        <p:nvSpPr>
          <p:cNvPr id="18" name="Rectangle 17"/>
          <p:cNvSpPr>
            <a:spLocks noGrp="1" noChangeArrowheads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altLang="zh-CN"/>
              <a:t>Jing Ma, Kai Ye</a:t>
            </a:r>
          </a:p>
        </p:txBody>
      </p:sp>
      <p:sp>
        <p:nvSpPr>
          <p:cNvPr id="19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2E20A-44B2-4A79-BDA2-541B8CC43B98}" type="slidenum">
              <a:rPr lang="zh-CN" altLang="de-DE"/>
              <a:pPr>
                <a:defRPr/>
              </a:pPr>
              <a:t>‹#›</a:t>
            </a:fld>
            <a:r>
              <a:rPr lang="de-DE" altLang="zh-CN"/>
              <a:t>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altLang="zh-CN"/>
              <a:t>Jing Ma, Kai Ye</a:t>
            </a:r>
          </a:p>
        </p:txBody>
      </p:sp>
      <p:sp>
        <p:nvSpPr>
          <p:cNvPr id="1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E4121-57B6-4292-8B29-375BF5D4EF8F}" type="slidenum">
              <a:rPr lang="zh-CN" altLang="de-DE"/>
              <a:pPr>
                <a:defRPr/>
              </a:pPr>
              <a:t>‹#›</a:t>
            </a:fld>
            <a:endParaRPr lang="de-DE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476250"/>
            <a:ext cx="8229600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smtClean="0"/>
              <a:t>Click to edit Master title style</a:t>
            </a:r>
          </a:p>
        </p:txBody>
      </p:sp>
      <p:sp>
        <p:nvSpPr>
          <p:cNvPr id="819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57338"/>
            <a:ext cx="8229600" cy="431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smtClean="0"/>
              <a:t>Click to edit Master text styles</a:t>
            </a:r>
          </a:p>
          <a:p>
            <a:pPr lvl="1"/>
            <a:r>
              <a:rPr lang="de-DE" altLang="zh-CN" smtClean="0"/>
              <a:t>Second level</a:t>
            </a:r>
          </a:p>
        </p:txBody>
      </p:sp>
      <p:sp>
        <p:nvSpPr>
          <p:cNvPr id="16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59113" y="6308725"/>
            <a:ext cx="2305050" cy="3968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>
                <a:solidFill>
                  <a:srgbClr val="777777"/>
                </a:solidFill>
                <a:ea typeface="宋体" pitchFamily="2" charset="-122"/>
              </a:defRPr>
            </a:lvl1pPr>
          </a:lstStyle>
          <a:p>
            <a:r>
              <a:rPr lang="de-DE" altLang="zh-CN"/>
              <a:t>Jing Ma, Kai Ye</a:t>
            </a:r>
          </a:p>
        </p:txBody>
      </p:sp>
      <p:sp>
        <p:nvSpPr>
          <p:cNvPr id="17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7CF55B6E-0CC6-42FB-8E5A-5A0013E38924}" type="slidenum">
              <a:rPr lang="zh-CN" altLang="de-DE"/>
              <a:pPr>
                <a:defRPr/>
              </a:pPr>
              <a:t>‹#›</a:t>
            </a:fld>
            <a:endParaRPr lang="de-D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7.bin"/><Relationship Id="rId5" Type="http://schemas.openxmlformats.org/officeDocument/2006/relationships/oleObject" Target="../embeddings/oleObject26.bin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30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3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5.bin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4.bin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3.bin"/><Relationship Id="rId9" Type="http://schemas.openxmlformats.org/officeDocument/2006/relationships/oleObject" Target="../embeddings/oleObject38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4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5.bin"/><Relationship Id="rId5" Type="http://schemas.openxmlformats.org/officeDocument/2006/relationships/oleObject" Target="../embeddings/oleObject44.bin"/><Relationship Id="rId4" Type="http://schemas.openxmlformats.org/officeDocument/2006/relationships/oleObject" Target="../embeddings/oleObject43.bin"/><Relationship Id="rId9" Type="http://schemas.openxmlformats.org/officeDocument/2006/relationships/oleObject" Target="../embeddings/oleObject48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0825" y="2276475"/>
            <a:ext cx="8893175" cy="4105275"/>
          </a:xfrm>
        </p:spPr>
        <p:txBody>
          <a:bodyPr/>
          <a:lstStyle/>
          <a:p>
            <a:pPr algn="ctr" eaLnBrk="1" hangingPunct="1"/>
            <a:r>
              <a:rPr lang="en-US" altLang="zh-CN" sz="3600" b="1" dirty="0" smtClean="0">
                <a:solidFill>
                  <a:schemeClr val="bg2"/>
                </a:solidFill>
                <a:latin typeface="Arial" charset="0"/>
                <a:ea typeface="宋体" pitchFamily="2" charset="-122"/>
                <a:cs typeface="Arial" charset="0"/>
              </a:rPr>
              <a:t>Modelling and Forecasting Seasonal Time Series using the ARMA-version of the Berlin Method</a:t>
            </a:r>
            <a:br>
              <a:rPr lang="en-US" altLang="zh-CN" sz="3600" b="1" dirty="0" smtClean="0">
                <a:solidFill>
                  <a:schemeClr val="bg2"/>
                </a:solidFill>
                <a:latin typeface="Arial" charset="0"/>
                <a:ea typeface="宋体" pitchFamily="2" charset="-122"/>
                <a:cs typeface="Arial" charset="0"/>
              </a:rPr>
            </a:br>
            <a:r>
              <a:rPr lang="en-US" altLang="zh-CN" sz="3600" b="1" dirty="0" smtClean="0">
                <a:solidFill>
                  <a:schemeClr val="bg2"/>
                </a:solidFill>
                <a:latin typeface="Arial" charset="0"/>
                <a:ea typeface="宋体" pitchFamily="2" charset="-122"/>
                <a:cs typeface="Arial" charset="0"/>
              </a:rPr>
              <a:t/>
            </a:r>
            <a:br>
              <a:rPr lang="en-US" altLang="zh-CN" sz="3600" b="1" dirty="0" smtClean="0">
                <a:solidFill>
                  <a:schemeClr val="bg2"/>
                </a:solidFill>
                <a:latin typeface="Arial" charset="0"/>
                <a:ea typeface="宋体" pitchFamily="2" charset="-122"/>
                <a:cs typeface="Arial" charset="0"/>
              </a:rPr>
            </a:br>
            <a:r>
              <a:rPr lang="en-US" altLang="zh-CN" sz="2400" b="1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/>
            </a:r>
            <a:br>
              <a:rPr lang="en-US" altLang="zh-CN" sz="2400" b="1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</a:br>
            <a:r>
              <a:rPr lang="en-US" altLang="zh-CN" sz="2400" b="1" dirty="0" smtClean="0">
                <a:solidFill>
                  <a:schemeClr val="tx1"/>
                </a:solidFill>
                <a:latin typeface="Arial" charset="0"/>
                <a:ea typeface="宋体" pitchFamily="2" charset="-122"/>
                <a:cs typeface="Arial" charset="0"/>
              </a:rPr>
              <a:t>Jing  Ma</a:t>
            </a:r>
            <a:r>
              <a:rPr lang="en-US" altLang="zh-CN" sz="2400" b="1" dirty="0" smtClean="0">
                <a:solidFill>
                  <a:schemeClr val="bg2"/>
                </a:solidFill>
                <a:latin typeface="Arial" charset="0"/>
                <a:ea typeface="宋体" pitchFamily="2" charset="-122"/>
                <a:cs typeface="Arial" charset="0"/>
              </a:rPr>
              <a:t/>
            </a:r>
            <a:br>
              <a:rPr lang="en-US" altLang="zh-CN" sz="2400" b="1" dirty="0" smtClean="0">
                <a:solidFill>
                  <a:schemeClr val="bg2"/>
                </a:solidFill>
                <a:latin typeface="Arial" charset="0"/>
                <a:ea typeface="宋体" pitchFamily="2" charset="-122"/>
                <a:cs typeface="Arial" charset="0"/>
              </a:rPr>
            </a:br>
            <a:endParaRPr lang="de-DE" altLang="zh-CN" sz="2400" b="1" dirty="0" smtClean="0">
              <a:solidFill>
                <a:schemeClr val="bg2"/>
              </a:solidFill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9219" name="Text Box 4"/>
          <p:cNvSpPr txBox="1">
            <a:spLocks noChangeArrowheads="1"/>
          </p:cNvSpPr>
          <p:nvPr/>
        </p:nvSpPr>
        <p:spPr bwMode="auto">
          <a:xfrm>
            <a:off x="2500298" y="0"/>
            <a:ext cx="642938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宋体" pitchFamily="2" charset="-122"/>
              </a:rPr>
              <a:t>Prof. Dr. </a:t>
            </a:r>
            <a:r>
              <a:rPr lang="en-US" altLang="zh-CN" b="1" dirty="0" err="1">
                <a:ea typeface="宋体" pitchFamily="2" charset="-122"/>
              </a:rPr>
              <a:t>Yuanhua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en-US" altLang="zh-CN" b="1" dirty="0" err="1">
                <a:ea typeface="宋体" pitchFamily="2" charset="-122"/>
              </a:rPr>
              <a:t>Feng</a:t>
            </a:r>
            <a:endParaRPr lang="en-US" altLang="zh-CN" b="1" dirty="0">
              <a:ea typeface="宋体" pitchFamily="2" charset="-122"/>
            </a:endParaRPr>
          </a:p>
          <a:p>
            <a:r>
              <a:rPr lang="en-US" altLang="zh-CN" b="1" dirty="0">
                <a:ea typeface="宋体" pitchFamily="2" charset="-122"/>
              </a:rPr>
              <a:t>Faculty of Business Administration and Economics</a:t>
            </a:r>
          </a:p>
          <a:p>
            <a:r>
              <a:rPr lang="en-US" altLang="zh-CN" b="1" dirty="0">
                <a:ea typeface="宋体" pitchFamily="2" charset="-122"/>
              </a:rPr>
              <a:t>University of Paderborn</a:t>
            </a:r>
            <a:endParaRPr lang="zh-CN" altLang="zh-CN" b="1" dirty="0">
              <a:ea typeface="宋体" pitchFamily="2" charset="-122"/>
            </a:endParaRPr>
          </a:p>
        </p:txBody>
      </p:sp>
    </p:spTree>
  </p:cSld>
  <p:clrMapOvr>
    <a:masterClrMapping/>
  </p:clrMapOvr>
  <p:transition advTm="18609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CE72DB-F6B4-44EA-AF3B-9548BE42A608}" type="slidenum">
              <a:rPr lang="zh-CN" altLang="de-DE"/>
              <a:pPr>
                <a:defRPr/>
              </a:pPr>
              <a:t>2</a:t>
            </a:fld>
            <a:endParaRPr lang="de-DE" altLang="zh-CN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04850"/>
            <a:ext cx="8229600" cy="563563"/>
          </a:xfrm>
        </p:spPr>
        <p:txBody>
          <a:bodyPr/>
          <a:lstStyle/>
          <a:p>
            <a:pPr eaLnBrk="1" hangingPunct="1"/>
            <a:r>
              <a:rPr lang="de-DE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Agenda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00213"/>
            <a:ext cx="8472518" cy="43926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Introduction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Berlin Method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Semiparametric Regression Model with ARMA Errors and Seasonality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Bandwidth Selection: Plug-In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Forecasting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Application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Conclusion</a:t>
            </a:r>
          </a:p>
          <a:p>
            <a:pPr marL="609600" indent="-609600">
              <a:buNone/>
            </a:pPr>
            <a:endParaRPr lang="en-US" altLang="zh-CN" sz="20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marL="609600" indent="-609600" eaLnBrk="1" hangingPunct="1">
              <a:spcBef>
                <a:spcPct val="50000"/>
              </a:spcBef>
              <a:buSzTx/>
              <a:buFont typeface="Arial" charset="0"/>
              <a:buNone/>
            </a:pPr>
            <a:endParaRPr lang="en-US" altLang="zh-CN" b="1" dirty="0" smtClean="0">
              <a:solidFill>
                <a:schemeClr val="tx2"/>
              </a:solidFill>
              <a:latin typeface="Arial" charset="0"/>
              <a:ea typeface="宋体" pitchFamily="2" charset="-122"/>
              <a:cs typeface="Arial" charset="0"/>
            </a:endParaRPr>
          </a:p>
          <a:p>
            <a:pPr marL="609600" indent="-609600" eaLnBrk="1" hangingPunct="1">
              <a:spcBef>
                <a:spcPct val="50000"/>
              </a:spcBef>
              <a:buSzTx/>
              <a:buFont typeface="Wingdings" pitchFamily="2" charset="2"/>
              <a:buNone/>
            </a:pPr>
            <a:endParaRPr lang="en-US" altLang="zh-CN" sz="4400" b="1" dirty="0" smtClean="0">
              <a:solidFill>
                <a:schemeClr val="tx2"/>
              </a:solidFill>
              <a:latin typeface="Arial" charset="0"/>
              <a:ea typeface="宋体" pitchFamily="2" charset="-122"/>
              <a:cs typeface="Arial" charset="0"/>
            </a:endParaRPr>
          </a:p>
          <a:p>
            <a:pPr marL="990600" lvl="1" indent="-533400" eaLnBrk="1" hangingPunct="1">
              <a:spcBef>
                <a:spcPct val="50000"/>
              </a:spcBef>
              <a:buClr>
                <a:srgbClr val="000099"/>
              </a:buClr>
              <a:buFont typeface="Wingdings" pitchFamily="2" charset="2"/>
              <a:buNone/>
            </a:pPr>
            <a:endParaRPr lang="en-US" altLang="zh-CN" sz="44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marL="990600" lvl="1" indent="-533400" eaLnBrk="1" hangingPunct="1">
              <a:spcBef>
                <a:spcPct val="50000"/>
              </a:spcBef>
              <a:buClr>
                <a:srgbClr val="000099"/>
              </a:buClr>
              <a:buFont typeface="Wingdings" pitchFamily="2" charset="2"/>
              <a:buNone/>
            </a:pPr>
            <a:endParaRPr lang="de-DE" altLang="zh-CN" sz="4400" dirty="0" smtClean="0">
              <a:latin typeface="Arial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 advTm="78875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C4F5F7-6A27-43ED-B640-8B7DBC6CABA8}" type="slidenum">
              <a:rPr lang="zh-CN" altLang="de-DE"/>
              <a:pPr>
                <a:defRPr/>
              </a:pPr>
              <a:t>3</a:t>
            </a:fld>
            <a:endParaRPr lang="de-DE" altLang="zh-CN"/>
          </a:p>
        </p:txBody>
      </p:sp>
      <p:sp>
        <p:nvSpPr>
          <p:cNvPr id="1607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57298"/>
            <a:ext cx="8229600" cy="451010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altLang="zh-CN" sz="2000" dirty="0" smtClean="0"/>
              <a:t>Many time series in the practice have a deterministic trend or a periodic component (called seasonality) due to economic development, business cycle or some natural facts, e.g. we do not eat so many ice creams in the Winter .</a:t>
            </a:r>
            <a:endParaRPr lang="en-US" altLang="zh-CN" sz="20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An example:</a:t>
            </a:r>
            <a:endParaRPr lang="zh-CN" altLang="en-US" sz="2000" dirty="0" smtClean="0"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/>
          <a:lstStyle/>
          <a:p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Introduction: Seasonal Time Series</a:t>
            </a:r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3429000"/>
            <a:ext cx="4000528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14876" y="3357562"/>
            <a:ext cx="4143404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785786" y="6286520"/>
            <a:ext cx="3571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Monthly UK-Tourism overseas expenditure, Jan 1980-Jul  2002 </a:t>
            </a:r>
            <a:endParaRPr lang="zh-CN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43504" y="6334780"/>
            <a:ext cx="3571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Log-transform of the original data</a:t>
            </a:r>
            <a:endParaRPr lang="zh-CN" altLang="en-US" sz="1400" dirty="0"/>
          </a:p>
        </p:txBody>
      </p:sp>
    </p:spTree>
  </p:cSld>
  <p:clrMapOvr>
    <a:masterClrMapping/>
  </p:clrMapOvr>
  <p:transition advTm="61562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868363"/>
          </a:xfrm>
        </p:spPr>
        <p:txBody>
          <a:bodyPr/>
          <a:lstStyle/>
          <a:p>
            <a:r>
              <a:rPr lang="en-US" altLang="zh-CN" sz="2800" b="1" dirty="0" smtClean="0">
                <a:latin typeface="Arial" pitchFamily="34" charset="0"/>
                <a:cs typeface="Arial" pitchFamily="34" charset="0"/>
              </a:rPr>
              <a:t>Berlin Method (Berliner </a:t>
            </a:r>
            <a:r>
              <a:rPr lang="en-US" altLang="zh-CN" sz="2800" b="1" dirty="0" err="1" smtClean="0">
                <a:latin typeface="Arial" pitchFamily="34" charset="0"/>
                <a:cs typeface="Arial" pitchFamily="34" charset="0"/>
              </a:rPr>
              <a:t>Verfahren</a:t>
            </a:r>
            <a:r>
              <a:rPr lang="en-US" altLang="zh-CN" sz="2800" b="1" dirty="0" smtClean="0">
                <a:latin typeface="Arial" pitchFamily="34" charset="0"/>
                <a:cs typeface="Arial" pitchFamily="34" charset="0"/>
              </a:rPr>
              <a:t>)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92922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altLang="zh-CN" sz="2000" dirty="0" smtClean="0"/>
              <a:t>In Germany, the decomposition and the seasonal adjustment of economic time series with the BV have a long tradition.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In the late 1960s, BV was developed by the Berlin Technical University and the </a:t>
            </a:r>
            <a:r>
              <a:rPr lang="en-US" altLang="zh-CN" sz="2000" dirty="0" smtClean="0"/>
              <a:t>German Institute for Economic Research. </a:t>
            </a: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Its fourth version is being applied by the German Federal Statistical Office since 1983.</a:t>
            </a:r>
            <a:r>
              <a:rPr lang="en-US" altLang="zh-CN" sz="2000" dirty="0" smtClean="0"/>
              <a:t> </a:t>
            </a: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altLang="zh-CN" sz="2000" dirty="0" smtClean="0"/>
              <a:t>The method assumes a series to be additively composed by four components, namely trend, seasonal, calendar and residual.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CN" sz="1800" dirty="0" smtClean="0"/>
              <a:t>         trend fluctuations: technological progress, population growth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CN" sz="1800" dirty="0" smtClean="0"/>
              <a:t>         seasonal fluctuations: climatic conditions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CN" sz="1800" dirty="0" smtClean="0"/>
              <a:t>         calendar fluctuations: various weekdays, public holidays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CN" sz="1800" dirty="0" smtClean="0"/>
              <a:t>         residual fluctuations: strikes, natural disasters</a:t>
            </a:r>
            <a:endParaRPr lang="zh-CN" altLang="zh-CN" sz="1800" dirty="0" smtClean="0"/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endParaRPr lang="en-US" altLang="zh-CN" sz="20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buNone/>
            </a:pPr>
            <a:endParaRPr lang="en-US" altLang="zh-CN" sz="20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929586" y="6248400"/>
            <a:ext cx="757214" cy="457200"/>
          </a:xfrm>
        </p:spPr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4</a:t>
            </a:fld>
            <a:endParaRPr lang="de-DE" altLang="zh-CN" dirty="0"/>
          </a:p>
        </p:txBody>
      </p:sp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260350" y="1238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260350" y="12382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advTm="102625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 smtClean="0">
                <a:latin typeface="Arial" pitchFamily="34" charset="0"/>
                <a:cs typeface="Arial" pitchFamily="34" charset="0"/>
              </a:rPr>
              <a:t>Berlin Method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072098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zh-CN" sz="2000" dirty="0" smtClean="0"/>
              <a:t>The trend component  is approximated by a polynomial of order 3, while the seasonal component  is approximated by 11 trigonometric functions for monthly series(Eurostat.1998):</a:t>
            </a:r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endParaRPr lang="en-US" altLang="zh-CN" sz="20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 smtClean="0">
                <a:latin typeface="Arial" charset="0"/>
                <a:ea typeface="宋体" pitchFamily="2" charset="-122"/>
                <a:cs typeface="Arial" charset="0"/>
              </a:rPr>
              <a:t>Advantages: 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b="1" dirty="0" smtClean="0">
                <a:latin typeface="Arial" charset="0"/>
                <a:ea typeface="宋体" pitchFamily="2" charset="-122"/>
                <a:cs typeface="Arial" charset="0"/>
              </a:rPr>
              <a:t>      </a:t>
            </a:r>
            <a:r>
              <a:rPr lang="en-US" altLang="zh-CN" sz="2000" dirty="0" smtClean="0"/>
              <a:t>Speed of calculations is quick.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b="1" dirty="0" smtClean="0">
                <a:latin typeface="Arial" charset="0"/>
                <a:ea typeface="宋体" pitchFamily="2" charset="-122"/>
                <a:cs typeface="Arial" charset="0"/>
              </a:rPr>
              <a:t>      </a:t>
            </a:r>
            <a:r>
              <a:rPr lang="en-US" altLang="zh-CN" sz="2000" dirty="0" smtClean="0"/>
              <a:t>Applying does not require user training or expert knowledge.</a:t>
            </a:r>
            <a:endParaRPr lang="en-US" altLang="zh-CN" sz="20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b="1" dirty="0" smtClean="0">
                <a:latin typeface="Arial" charset="0"/>
                <a:ea typeface="宋体" pitchFamily="2" charset="-122"/>
                <a:cs typeface="Arial" charset="0"/>
              </a:rPr>
              <a:t>Disadvantages: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 smtClean="0"/>
              <a:t>      It is impossible for forecasting.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000" dirty="0" smtClean="0"/>
              <a:t>      The bandwidth is fixed and chosen in advance.</a:t>
            </a: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5</a:t>
            </a:fld>
            <a:endParaRPr lang="de-DE" altLang="zh-CN"/>
          </a:p>
        </p:txBody>
      </p:sp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1214414" y="2643182"/>
          <a:ext cx="1643062" cy="911225"/>
        </p:xfrm>
        <a:graphic>
          <a:graphicData uri="http://schemas.openxmlformats.org/presentationml/2006/ole">
            <p:oleObj spid="_x0000_s18436" name="公式" r:id="rId3" imgW="736560" imgH="431640" progId="Equation.3">
              <p:embed/>
            </p:oleObj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3786182" y="2643182"/>
          <a:ext cx="4078288" cy="911225"/>
        </p:xfrm>
        <a:graphic>
          <a:graphicData uri="http://schemas.openxmlformats.org/presentationml/2006/ole">
            <p:oleObj spid="_x0000_s18438" name="公式" r:id="rId4" imgW="1828800" imgH="431640" progId="Equation.3">
              <p:embed/>
            </p:oleObj>
          </a:graphicData>
        </a:graphic>
      </p:graphicFrame>
    </p:spTree>
  </p:cSld>
  <p:clrMapOvr>
    <a:masterClrMapping/>
  </p:clrMapOvr>
  <p:transition advTm="5225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Semiparametric Regression Model with ARMA Errors and Seasonality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500174"/>
            <a:ext cx="8358246" cy="4929222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altLang="zh-CN" sz="2000" dirty="0" smtClean="0"/>
              <a:t>An equidistant time series  </a:t>
            </a:r>
            <a:r>
              <a:rPr lang="en-US" altLang="zh-CN" sz="2000" dirty="0" err="1" smtClean="0"/>
              <a:t>Y</a:t>
            </a:r>
            <a:r>
              <a:rPr lang="en-US" altLang="zh-CN" sz="1600" dirty="0" err="1" smtClean="0"/>
              <a:t>t</a:t>
            </a:r>
            <a:r>
              <a:rPr lang="en-US" altLang="zh-CN" sz="2000" dirty="0" smtClean="0"/>
              <a:t>  follows an additive components model: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endParaRPr lang="en-US" altLang="zh-CN" sz="2000" dirty="0" smtClean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dirty="0" smtClean="0"/>
              <a:t>The residual </a:t>
            </a:r>
            <a:r>
              <a:rPr lang="en-US" altLang="zh-CN" sz="2000" dirty="0" err="1" smtClean="0"/>
              <a:t>Z</a:t>
            </a:r>
            <a:r>
              <a:rPr lang="en-US" altLang="zh-CN" sz="1600" dirty="0" err="1" smtClean="0"/>
              <a:t>t</a:t>
            </a:r>
            <a:r>
              <a:rPr lang="en-US" altLang="zh-CN" sz="2000" dirty="0" smtClean="0"/>
              <a:t> can be estimated by a stationary ARMA(p, q) model </a:t>
            </a:r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CN" sz="2000" dirty="0" smtClean="0"/>
              <a:t>      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dirty="0" smtClean="0"/>
              <a:t>      with </a:t>
            </a:r>
            <a:r>
              <a:rPr lang="en-US" altLang="zh-CN" sz="2000" dirty="0" err="1" smtClean="0"/>
              <a:t>summable</a:t>
            </a:r>
            <a:r>
              <a:rPr lang="en-US" altLang="zh-CN" sz="2000" dirty="0" smtClean="0"/>
              <a:t> autocovariances: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dirty="0" smtClean="0"/>
              <a:t>Around a point t</a:t>
            </a:r>
            <a:r>
              <a:rPr lang="en-US" altLang="zh-CN" sz="1400" dirty="0" smtClean="0"/>
              <a:t>0</a:t>
            </a:r>
            <a:r>
              <a:rPr lang="en-US" altLang="zh-CN" sz="2000" dirty="0" smtClean="0"/>
              <a:t> G can be locally modeled by a polynomial of order p assuming that it is at least (p+1)-times differentiable:</a:t>
            </a:r>
          </a:p>
          <a:p>
            <a:pPr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altLang="zh-CN" sz="2000" dirty="0" smtClean="0"/>
              <a:t>      </a:t>
            </a:r>
          </a:p>
          <a:p>
            <a:pPr>
              <a:spcBef>
                <a:spcPts val="1200"/>
              </a:spcBef>
              <a:spcAft>
                <a:spcPts val="0"/>
              </a:spcAft>
            </a:pPr>
            <a:r>
              <a:rPr lang="en-US" altLang="zh-CN" sz="2000" dirty="0" smtClean="0"/>
              <a:t>S can be locally modeled by a Fourier series:</a:t>
            </a:r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endParaRPr lang="en-US" altLang="zh-CN" sz="2000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8143900" y="6248400"/>
            <a:ext cx="542900" cy="457200"/>
          </a:xfrm>
        </p:spPr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6</a:t>
            </a:fld>
            <a:endParaRPr lang="de-DE" altLang="zh-CN"/>
          </a:p>
        </p:txBody>
      </p:sp>
      <p:graphicFrame>
        <p:nvGraphicFramePr>
          <p:cNvPr id="37889" name="Object 1"/>
          <p:cNvGraphicFramePr>
            <a:graphicFrameLocks noChangeAspect="1"/>
          </p:cNvGraphicFramePr>
          <p:nvPr/>
        </p:nvGraphicFramePr>
        <p:xfrm>
          <a:off x="1214414" y="2000240"/>
          <a:ext cx="4787900" cy="428625"/>
        </p:xfrm>
        <a:graphic>
          <a:graphicData uri="http://schemas.openxmlformats.org/presentationml/2006/ole">
            <p:oleObj spid="_x0000_s37889" name="公式" r:id="rId4" imgW="2145960" imgH="228600" progId="Equation.3">
              <p:embed/>
            </p:oleObj>
          </a:graphicData>
        </a:graphic>
      </p:graphicFrame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2214546" y="4857760"/>
          <a:ext cx="3727450" cy="857250"/>
        </p:xfrm>
        <a:graphic>
          <a:graphicData uri="http://schemas.openxmlformats.org/presentationml/2006/ole">
            <p:oleObj spid="_x0000_s37890" name="公式" r:id="rId5" imgW="1587240" imgH="457200" progId="Equation.3">
              <p:embed/>
            </p:oleObj>
          </a:graphicData>
        </a:graphic>
      </p:graphicFrame>
      <p:graphicFrame>
        <p:nvGraphicFramePr>
          <p:cNvPr id="37891" name="Object 3"/>
          <p:cNvGraphicFramePr>
            <a:graphicFrameLocks noChangeAspect="1"/>
          </p:cNvGraphicFramePr>
          <p:nvPr/>
        </p:nvGraphicFramePr>
        <p:xfrm>
          <a:off x="857224" y="6000750"/>
          <a:ext cx="7334250" cy="857250"/>
        </p:xfrm>
        <a:graphic>
          <a:graphicData uri="http://schemas.openxmlformats.org/presentationml/2006/ole">
            <p:oleObj spid="_x0000_s37891" name="公式" r:id="rId6" imgW="3288960" imgH="457200" progId="Equation.3">
              <p:embed/>
            </p:oleObj>
          </a:graphicData>
        </a:graphic>
      </p:graphicFrame>
      <p:graphicFrame>
        <p:nvGraphicFramePr>
          <p:cNvPr id="37892" name="Object 4"/>
          <p:cNvGraphicFramePr>
            <a:graphicFrameLocks noChangeAspect="1"/>
          </p:cNvGraphicFramePr>
          <p:nvPr/>
        </p:nvGraphicFramePr>
        <p:xfrm>
          <a:off x="5143504" y="3500438"/>
          <a:ext cx="2000264" cy="785818"/>
        </p:xfrm>
        <a:graphic>
          <a:graphicData uri="http://schemas.openxmlformats.org/presentationml/2006/ole">
            <p:oleObj spid="_x0000_s37892" name="公式" r:id="rId7" imgW="787320" imgH="431640" progId="Equation.3">
              <p:embed/>
            </p:oleObj>
          </a:graphicData>
        </a:graphic>
      </p:graphicFrame>
      <p:graphicFrame>
        <p:nvGraphicFramePr>
          <p:cNvPr id="37893" name="Object 5"/>
          <p:cNvGraphicFramePr>
            <a:graphicFrameLocks noChangeAspect="1"/>
          </p:cNvGraphicFramePr>
          <p:nvPr/>
        </p:nvGraphicFramePr>
        <p:xfrm>
          <a:off x="6143636" y="2000240"/>
          <a:ext cx="2516188" cy="415925"/>
        </p:xfrm>
        <a:graphic>
          <a:graphicData uri="http://schemas.openxmlformats.org/presentationml/2006/ole">
            <p:oleObj spid="_x0000_s37893" name="公式" r:id="rId8" imgW="990360" imgH="228600" progId="Equation.3">
              <p:embed/>
            </p:oleObj>
          </a:graphicData>
        </a:graphic>
      </p:graphicFrame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1357290" y="3000372"/>
          <a:ext cx="6457950" cy="452437"/>
        </p:xfrm>
        <a:graphic>
          <a:graphicData uri="http://schemas.openxmlformats.org/presentationml/2006/ole">
            <p:oleObj spid="_x0000_s37894" name="公式" r:id="rId9" imgW="2895480" imgH="241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868363"/>
          </a:xfrm>
        </p:spPr>
        <p:txBody>
          <a:bodyPr/>
          <a:lstStyle/>
          <a:p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Semiparametric Regression Model with ARMA Errors and Seasonality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2000" dirty="0" smtClean="0"/>
              <a:t>The locally weighted estimators are obtained by solving the least square problem: </a:t>
            </a:r>
          </a:p>
          <a:p>
            <a:pPr>
              <a:spcAft>
                <a:spcPts val="600"/>
              </a:spcAft>
            </a:pPr>
            <a:endParaRPr lang="en-US" altLang="zh-CN" sz="2000" dirty="0" smtClean="0"/>
          </a:p>
          <a:p>
            <a:pPr>
              <a:spcAft>
                <a:spcPts val="600"/>
              </a:spcAft>
            </a:pPr>
            <a:endParaRPr lang="en-US" altLang="zh-CN" sz="2000" dirty="0" smtClean="0"/>
          </a:p>
          <a:p>
            <a:pPr>
              <a:spcAft>
                <a:spcPts val="600"/>
              </a:spcAft>
            </a:pPr>
            <a:endParaRPr lang="en-US" altLang="zh-CN" sz="2000" dirty="0" smtClean="0"/>
          </a:p>
          <a:p>
            <a:pPr>
              <a:spcAft>
                <a:spcPts val="600"/>
              </a:spcAft>
              <a:buNone/>
            </a:pPr>
            <a:r>
              <a:rPr lang="en-US" altLang="zh-CN" sz="2000" dirty="0" smtClean="0"/>
              <a:t>       leads to the solutions: </a:t>
            </a:r>
            <a:endParaRPr lang="zh-CN" altLang="zh-CN" sz="2000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929586" y="6248400"/>
            <a:ext cx="757214" cy="457200"/>
          </a:xfrm>
        </p:spPr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7</a:t>
            </a:fld>
            <a:endParaRPr lang="de-DE" altLang="zh-CN"/>
          </a:p>
        </p:txBody>
      </p:sp>
      <p:graphicFrame>
        <p:nvGraphicFramePr>
          <p:cNvPr id="35841" name="Object 1"/>
          <p:cNvGraphicFramePr>
            <a:graphicFrameLocks noChangeAspect="1"/>
          </p:cNvGraphicFramePr>
          <p:nvPr/>
        </p:nvGraphicFramePr>
        <p:xfrm>
          <a:off x="3428992" y="2000240"/>
          <a:ext cx="3563937" cy="857256"/>
        </p:xfrm>
        <a:graphic>
          <a:graphicData uri="http://schemas.openxmlformats.org/presentationml/2006/ole">
            <p:oleObj spid="_x0000_s35841" name="公式" r:id="rId3" imgW="1600200" imgH="482400" progId="Equation.3">
              <p:embed/>
            </p:oleObj>
          </a:graphicData>
        </a:graphic>
      </p:graphicFrame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928662" y="2714620"/>
          <a:ext cx="8215338" cy="928694"/>
        </p:xfrm>
        <a:graphic>
          <a:graphicData uri="http://schemas.openxmlformats.org/presentationml/2006/ole">
            <p:oleObj spid="_x0000_s35842" name="公式" r:id="rId4" imgW="4038480" imgH="482400" progId="Equation.3">
              <p:embed/>
            </p:oleObj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1071538" y="4143380"/>
          <a:ext cx="3432175" cy="428628"/>
        </p:xfrm>
        <a:graphic>
          <a:graphicData uri="http://schemas.openxmlformats.org/presentationml/2006/ole">
            <p:oleObj spid="_x0000_s35843" name="公式" r:id="rId5" imgW="1536480" imgH="253800" progId="Equation.3">
              <p:embed/>
            </p:oleObj>
          </a:graphicData>
        </a:graphic>
      </p:graphicFrame>
      <p:graphicFrame>
        <p:nvGraphicFramePr>
          <p:cNvPr id="35844" name="Object 4"/>
          <p:cNvGraphicFramePr>
            <a:graphicFrameLocks noChangeAspect="1"/>
          </p:cNvGraphicFramePr>
          <p:nvPr/>
        </p:nvGraphicFramePr>
        <p:xfrm>
          <a:off x="1057275" y="4714875"/>
          <a:ext cx="5588000" cy="428625"/>
        </p:xfrm>
        <a:graphic>
          <a:graphicData uri="http://schemas.openxmlformats.org/presentationml/2006/ole">
            <p:oleObj spid="_x0000_s35844" name="公式" r:id="rId6" imgW="2501640" imgH="241200" progId="Equation.3">
              <p:embed/>
            </p:oleObj>
          </a:graphicData>
        </a:graphic>
      </p:graphicFrame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1058863" y="5286375"/>
          <a:ext cx="5443537" cy="441325"/>
        </p:xfrm>
        <a:graphic>
          <a:graphicData uri="http://schemas.openxmlformats.org/presentationml/2006/ole">
            <p:oleObj spid="_x0000_s35845" name="公式" r:id="rId7" imgW="2438280" imgH="253800" progId="Equation.3">
              <p:embed/>
            </p:oleObj>
          </a:graphicData>
        </a:graphic>
      </p:graphicFrame>
      <p:graphicFrame>
        <p:nvGraphicFramePr>
          <p:cNvPr id="35846" name="Object 6"/>
          <p:cNvGraphicFramePr>
            <a:graphicFrameLocks noChangeAspect="1"/>
          </p:cNvGraphicFramePr>
          <p:nvPr/>
        </p:nvGraphicFramePr>
        <p:xfrm>
          <a:off x="1071538" y="5929330"/>
          <a:ext cx="5559425" cy="428625"/>
        </p:xfrm>
        <a:graphic>
          <a:graphicData uri="http://schemas.openxmlformats.org/presentationml/2006/ole">
            <p:oleObj spid="_x0000_s35846" name="公式" r:id="rId8" imgW="248904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Asymptotic Properties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357298"/>
            <a:ext cx="8358246" cy="514353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zh-CN" sz="2000" dirty="0" smtClean="0"/>
              <a:t>A 1: h      0 and </a:t>
            </a:r>
            <a:r>
              <a:rPr lang="en-US" altLang="zh-CN" sz="2000" dirty="0" err="1" smtClean="0"/>
              <a:t>nh</a:t>
            </a:r>
            <a:r>
              <a:rPr lang="en-US" altLang="zh-CN" sz="2000" dirty="0" smtClean="0"/>
              <a:t>      </a:t>
            </a:r>
            <a:r>
              <a:rPr lang="en-US" altLang="zh-CN" sz="2000" dirty="0" smtClean="0">
                <a:latin typeface="Times New Roman"/>
                <a:cs typeface="Times New Roman"/>
              </a:rPr>
              <a:t>∞ </a:t>
            </a:r>
            <a:r>
              <a:rPr lang="en-US" altLang="zh-CN" sz="2000" dirty="0" smtClean="0"/>
              <a:t>as n       </a:t>
            </a:r>
            <a:r>
              <a:rPr lang="en-US" altLang="zh-CN" sz="2000" dirty="0" smtClean="0">
                <a:latin typeface="Times New Roman"/>
                <a:cs typeface="Times New Roman"/>
              </a:rPr>
              <a:t>∞.</a:t>
            </a:r>
          </a:p>
          <a:p>
            <a:pPr>
              <a:spcAft>
                <a:spcPts val="600"/>
              </a:spcAft>
              <a:buNone/>
            </a:pPr>
            <a:r>
              <a:rPr lang="en-US" altLang="zh-CN" sz="2000" dirty="0" smtClean="0">
                <a:cs typeface="Times New Roman"/>
              </a:rPr>
              <a:t>     A 2: G is at least k(=p+1) times continuously differentiable.</a:t>
            </a:r>
          </a:p>
          <a:p>
            <a:pPr>
              <a:spcAft>
                <a:spcPts val="600"/>
              </a:spcAft>
              <a:buNone/>
            </a:pPr>
            <a:r>
              <a:rPr lang="en-US" altLang="zh-CN" sz="2000" dirty="0" smtClean="0">
                <a:cs typeface="Times New Roman"/>
              </a:rPr>
              <a:t>     A 3: S is exactly periodic with period s.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zh-CN" sz="2000" dirty="0" smtClean="0">
                <a:cs typeface="Times New Roman"/>
              </a:rPr>
              <a:t>MASE:  </a:t>
            </a:r>
          </a:p>
          <a:p>
            <a:pPr>
              <a:spcAft>
                <a:spcPts val="600"/>
              </a:spcAft>
              <a:buNone/>
            </a:pPr>
            <a:endParaRPr lang="en-US" altLang="zh-CN" sz="2000" dirty="0" smtClean="0">
              <a:cs typeface="Times New Roman"/>
            </a:endParaRPr>
          </a:p>
          <a:p>
            <a:pPr>
              <a:spcAft>
                <a:spcPts val="600"/>
              </a:spcAft>
              <a:buNone/>
            </a:pPr>
            <a:endParaRPr lang="en-US" altLang="zh-CN" sz="2000" dirty="0" smtClean="0">
              <a:cs typeface="Times New Roman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altLang="zh-CN" sz="2000" dirty="0" smtClean="0">
                <a:cs typeface="Times New Roman"/>
              </a:rPr>
              <a:t>     The asymptotically optimal bandwidth, which minimizes MASE is given by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000" dirty="0" smtClean="0">
              <a:cs typeface="Times New Roman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000" dirty="0" smtClean="0">
              <a:cs typeface="Times New Roman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000" dirty="0" smtClean="0">
              <a:cs typeface="Times New Roman"/>
            </a:endParaRPr>
          </a:p>
          <a:p>
            <a:pPr>
              <a:spcBef>
                <a:spcPts val="1500"/>
              </a:spcBef>
              <a:spcAft>
                <a:spcPts val="600"/>
              </a:spcAft>
              <a:buNone/>
            </a:pPr>
            <a:r>
              <a:rPr lang="en-US" altLang="zh-CN" sz="2000" dirty="0" smtClean="0">
                <a:cs typeface="Times New Roman"/>
              </a:rPr>
              <a:t>      with unknown parameters : V and     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000" dirty="0" smtClean="0">
              <a:cs typeface="Times New Roman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000" dirty="0" smtClean="0">
              <a:cs typeface="Times New Roman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000" dirty="0" smtClean="0">
              <a:cs typeface="Times New Roman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000" dirty="0" smtClean="0">
                <a:cs typeface="Times New Roman"/>
              </a:rPr>
              <a:t> </a:t>
            </a:r>
          </a:p>
          <a:p>
            <a:pPr>
              <a:spcAft>
                <a:spcPts val="600"/>
              </a:spcAft>
              <a:buNone/>
            </a:pPr>
            <a:r>
              <a:rPr lang="en-US" altLang="zh-CN" sz="2000" dirty="0" smtClean="0">
                <a:cs typeface="Times New Roman"/>
              </a:rPr>
              <a:t>      </a:t>
            </a:r>
          </a:p>
          <a:p>
            <a:pPr>
              <a:buNone/>
            </a:pPr>
            <a:r>
              <a:rPr lang="en-US" altLang="zh-CN" sz="2000" dirty="0" smtClean="0">
                <a:latin typeface="Times New Roman"/>
                <a:cs typeface="Times New Roman"/>
              </a:rPr>
              <a:t>                                                      </a:t>
            </a:r>
            <a:endParaRPr lang="zh-CN" altLang="en-US" sz="2000" dirty="0" smtClean="0">
              <a:latin typeface="Times New Roman"/>
              <a:cs typeface="Times New Roman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929586" y="6248400"/>
            <a:ext cx="757214" cy="457200"/>
          </a:xfrm>
        </p:spPr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8</a:t>
            </a:fld>
            <a:endParaRPr lang="de-DE" altLang="zh-CN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1571604" y="157161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4071934" y="157161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2928926" y="1571612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2000232" y="2714620"/>
          <a:ext cx="5481638" cy="1368425"/>
        </p:xfrm>
        <a:graphic>
          <a:graphicData uri="http://schemas.openxmlformats.org/presentationml/2006/ole">
            <p:oleObj spid="_x0000_s54276" name="公式" r:id="rId4" imgW="2400120" imgH="838080" progId="Equation.3">
              <p:embed/>
            </p:oleObj>
          </a:graphicData>
        </a:graphic>
      </p:graphicFrame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1000100" y="4714884"/>
          <a:ext cx="7886700" cy="1357322"/>
        </p:xfrm>
        <a:graphic>
          <a:graphicData uri="http://schemas.openxmlformats.org/presentationml/2006/ole">
            <p:oleObj spid="_x0000_s54277" name="公式" r:id="rId5" imgW="3454200" imgH="672840" progId="Equation.3">
              <p:embed/>
            </p:oleObj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4857752" y="6143644"/>
          <a:ext cx="2357455" cy="539975"/>
        </p:xfrm>
        <a:graphic>
          <a:graphicData uri="http://schemas.openxmlformats.org/presentationml/2006/ole">
            <p:oleObj spid="_x0000_s54279" name="公式" r:id="rId6" imgW="1066680" imgH="3045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Bandwidth Selection: Plug-In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7298"/>
            <a:ext cx="8472518" cy="4500594"/>
          </a:xfrm>
        </p:spPr>
        <p:txBody>
          <a:bodyPr/>
          <a:lstStyle/>
          <a:p>
            <a:r>
              <a:rPr lang="en-US" altLang="zh-CN" sz="2000" dirty="0" smtClean="0"/>
              <a:t>Estimation of variance:  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i.i.d</a:t>
            </a:r>
            <a:r>
              <a:rPr lang="en-US" altLang="zh-CN" sz="2000" dirty="0" smtClean="0"/>
              <a:t>. errors(4 iterations): seasonal-difference-based method</a:t>
            </a:r>
          </a:p>
          <a:p>
            <a:pPr>
              <a:buFont typeface="Wingdings" pitchFamily="2" charset="2"/>
              <a:buChar char="Ø"/>
            </a:pPr>
            <a:r>
              <a:rPr lang="en-US" altLang="zh-CN" sz="2000" dirty="0" smtClean="0"/>
              <a:t> ARMA errors(&gt; 4 iterations):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000" dirty="0" smtClean="0"/>
              <a:t>                                        where    </a:t>
            </a:r>
          </a:p>
          <a:p>
            <a:pPr>
              <a:buNone/>
            </a:pPr>
            <a:endParaRPr lang="zh-CN" altLang="zh-CN" sz="2000" b="1" dirty="0" smtClean="0"/>
          </a:p>
          <a:p>
            <a:pPr>
              <a:buNone/>
            </a:pPr>
            <a:endParaRPr lang="en-US" altLang="zh-CN" sz="2000" dirty="0" smtClean="0"/>
          </a:p>
          <a:p>
            <a:pPr lvl="0">
              <a:buNone/>
            </a:pPr>
            <a:endParaRPr lang="en-US" altLang="zh-CN" sz="2000" dirty="0" smtClean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 smtClean="0"/>
              <a:t>Estimation of  I:</a:t>
            </a:r>
          </a:p>
          <a:p>
            <a:pPr>
              <a:buNone/>
            </a:pPr>
            <a:r>
              <a:rPr lang="en-US" altLang="zh-CN" sz="2000" dirty="0" smtClean="0"/>
              <a:t>     k-</a:t>
            </a:r>
            <a:r>
              <a:rPr lang="en-US" altLang="zh-CN" sz="2000" dirty="0" err="1" smtClean="0"/>
              <a:t>th</a:t>
            </a:r>
            <a:r>
              <a:rPr lang="en-US" altLang="zh-CN" sz="2000" dirty="0" smtClean="0"/>
              <a:t> derivative of G can be estimated with a polynomial order of </a:t>
            </a:r>
            <a:r>
              <a:rPr lang="en-US" altLang="zh-CN" sz="2000" dirty="0" err="1" smtClean="0"/>
              <a:t>p</a:t>
            </a:r>
            <a:r>
              <a:rPr lang="en-US" altLang="zh-CN" sz="1400" dirty="0" err="1" smtClean="0"/>
              <a:t>I</a:t>
            </a:r>
            <a:r>
              <a:rPr lang="en-US" altLang="zh-CN" sz="2000" dirty="0" smtClean="0"/>
              <a:t>  and a bandwidth </a:t>
            </a:r>
            <a:r>
              <a:rPr lang="en-US" altLang="zh-CN" sz="2000" dirty="0" err="1" smtClean="0"/>
              <a:t>h</a:t>
            </a:r>
            <a:r>
              <a:rPr lang="en-US" altLang="zh-CN" sz="1400" dirty="0" err="1" smtClean="0"/>
              <a:t>I</a:t>
            </a:r>
            <a:r>
              <a:rPr lang="en-US" altLang="zh-CN" sz="2000" dirty="0" smtClean="0"/>
              <a:t> with </a:t>
            </a:r>
            <a:r>
              <a:rPr lang="en-US" altLang="zh-CN" sz="2000" dirty="0" err="1" smtClean="0"/>
              <a:t>p</a:t>
            </a:r>
            <a:r>
              <a:rPr lang="en-US" altLang="zh-CN" sz="1400" dirty="0" err="1" smtClean="0"/>
              <a:t>I</a:t>
            </a:r>
            <a:r>
              <a:rPr lang="en-US" altLang="zh-CN" sz="2000" dirty="0" smtClean="0"/>
              <a:t> &gt;k and </a:t>
            </a:r>
            <a:r>
              <a:rPr lang="en-US" altLang="zh-CN" sz="2000" dirty="0" err="1" smtClean="0"/>
              <a:t>p</a:t>
            </a:r>
            <a:r>
              <a:rPr lang="en-US" altLang="zh-CN" sz="1400" dirty="0" err="1" smtClean="0"/>
              <a:t>I</a:t>
            </a:r>
            <a:r>
              <a:rPr lang="en-US" altLang="zh-CN" sz="2000" dirty="0" smtClean="0"/>
              <a:t> -k odd. Usually, </a:t>
            </a:r>
            <a:r>
              <a:rPr lang="en-US" altLang="zh-CN" sz="2000" dirty="0" err="1" smtClean="0"/>
              <a:t>p</a:t>
            </a:r>
            <a:r>
              <a:rPr lang="en-US" altLang="zh-CN" sz="1400" dirty="0" err="1" smtClean="0"/>
              <a:t>I</a:t>
            </a:r>
            <a:r>
              <a:rPr lang="en-US" altLang="zh-CN" sz="2000" dirty="0" smtClean="0"/>
              <a:t>=k+1.</a:t>
            </a:r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endParaRPr lang="en-US" altLang="zh-CN" sz="2000" dirty="0" smtClean="0"/>
          </a:p>
          <a:p>
            <a:pPr>
              <a:spcBef>
                <a:spcPts val="0"/>
              </a:spcBef>
              <a:buNone/>
            </a:pPr>
            <a:r>
              <a:rPr lang="en-US" altLang="zh-CN" sz="2000" dirty="0" smtClean="0"/>
              <a:t>     Then I can be estimated by</a:t>
            </a:r>
          </a:p>
          <a:p>
            <a:pPr>
              <a:buNone/>
            </a:pPr>
            <a:r>
              <a:rPr lang="en-US" altLang="zh-CN" sz="2000" dirty="0" smtClean="0"/>
              <a:t>      </a:t>
            </a:r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r>
              <a:rPr lang="en-US" altLang="zh-CN" sz="2000" dirty="0" smtClean="0"/>
              <a:t>      </a:t>
            </a:r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929586" y="6248400"/>
            <a:ext cx="757214" cy="457200"/>
          </a:xfrm>
        </p:spPr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9</a:t>
            </a:fld>
            <a:endParaRPr lang="de-DE" altLang="zh-CN" dirty="0"/>
          </a:p>
        </p:txBody>
      </p:sp>
      <p:graphicFrame>
        <p:nvGraphicFramePr>
          <p:cNvPr id="45057" name="Object 1"/>
          <p:cNvGraphicFramePr>
            <a:graphicFrameLocks noChangeAspect="1"/>
          </p:cNvGraphicFramePr>
          <p:nvPr/>
        </p:nvGraphicFramePr>
        <p:xfrm>
          <a:off x="1071538" y="2428868"/>
          <a:ext cx="2130425" cy="712786"/>
        </p:xfrm>
        <a:graphic>
          <a:graphicData uri="http://schemas.openxmlformats.org/presentationml/2006/ole">
            <p:oleObj spid="_x0000_s45057" name="公式" r:id="rId4" imgW="838080" imgH="469800" progId="Equation.3">
              <p:embed/>
            </p:oleObj>
          </a:graphicData>
        </a:graphic>
      </p:graphicFrame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1000100" y="3214686"/>
          <a:ext cx="4519612" cy="785813"/>
        </p:xfrm>
        <a:graphic>
          <a:graphicData uri="http://schemas.openxmlformats.org/presentationml/2006/ole">
            <p:oleObj spid="_x0000_s45058" name="公式" r:id="rId5" imgW="1777680" imgH="431640" progId="Equation.3">
              <p:embed/>
            </p:oleObj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5857884" y="3429000"/>
          <a:ext cx="2227262" cy="415925"/>
        </p:xfrm>
        <a:graphic>
          <a:graphicData uri="http://schemas.openxmlformats.org/presentationml/2006/ole">
            <p:oleObj spid="_x0000_s45059" name="公式" r:id="rId6" imgW="876240" imgH="228600" progId="Equation.3">
              <p:embed/>
            </p:oleObj>
          </a:graphicData>
        </a:graphic>
      </p:graphicFrame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4286248" y="2428868"/>
          <a:ext cx="2227263" cy="552450"/>
        </p:xfrm>
        <a:graphic>
          <a:graphicData uri="http://schemas.openxmlformats.org/presentationml/2006/ole">
            <p:oleObj spid="_x0000_s45060" name="公式" r:id="rId7" imgW="876240" imgH="342720" progId="Equation.3">
              <p:embed/>
            </p:oleObj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1071538" y="5214950"/>
          <a:ext cx="6608763" cy="441325"/>
        </p:xfrm>
        <a:graphic>
          <a:graphicData uri="http://schemas.openxmlformats.org/presentationml/2006/ole">
            <p:oleObj spid="_x0000_s45062" name="公式" r:id="rId8" imgW="2958840" imgH="253800" progId="Equation.3">
              <p:embed/>
            </p:oleObj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1857356" y="6143644"/>
          <a:ext cx="4678363" cy="714356"/>
        </p:xfrm>
        <a:graphic>
          <a:graphicData uri="http://schemas.openxmlformats.org/presentationml/2006/ole">
            <p:oleObj spid="_x0000_s45064" name="公式" r:id="rId9" imgW="209520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Forecasting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4643470"/>
          </a:xfrm>
        </p:spPr>
        <p:txBody>
          <a:bodyPr/>
          <a:lstStyle/>
          <a:p>
            <a:r>
              <a:rPr lang="en-US" altLang="zh-CN" sz="2000" dirty="0" smtClean="0"/>
              <a:t>The point forecasts model is defined by(k=1,…,12 months)</a:t>
            </a:r>
          </a:p>
          <a:p>
            <a:pPr>
              <a:buNone/>
            </a:pPr>
            <a:endParaRPr lang="en-US" altLang="zh-CN" sz="2000" dirty="0" smtClean="0"/>
          </a:p>
          <a:p>
            <a:pPr>
              <a:spcBef>
                <a:spcPts val="1800"/>
              </a:spcBef>
            </a:pPr>
            <a:r>
              <a:rPr lang="en-US" altLang="zh-CN" sz="2000" dirty="0" smtClean="0"/>
              <a:t>The forecasts of trend: increase according to linear extrapolation</a:t>
            </a:r>
          </a:p>
          <a:p>
            <a:pPr>
              <a:buNone/>
            </a:pPr>
            <a:r>
              <a:rPr lang="en-US" altLang="zh-CN" sz="2000" dirty="0" smtClean="0"/>
              <a:t>                                 </a:t>
            </a:r>
          </a:p>
          <a:p>
            <a:pPr>
              <a:spcBef>
                <a:spcPts val="2000"/>
              </a:spcBef>
            </a:pPr>
            <a:r>
              <a:rPr lang="en-US" altLang="zh-CN" sz="2000" dirty="0" smtClean="0"/>
              <a:t>The forecasts of seasonality: use estimates of the last 12 months </a:t>
            </a:r>
          </a:p>
          <a:p>
            <a:pPr>
              <a:buNone/>
            </a:pPr>
            <a:endParaRPr lang="en-US" altLang="zh-CN" sz="2000" dirty="0" smtClean="0"/>
          </a:p>
          <a:p>
            <a:pPr>
              <a:buNone/>
            </a:pPr>
            <a:endParaRPr lang="en-US" altLang="zh-CN" sz="2000" dirty="0" smtClean="0"/>
          </a:p>
          <a:p>
            <a:pPr>
              <a:spcBef>
                <a:spcPts val="0"/>
              </a:spcBef>
            </a:pPr>
            <a:r>
              <a:rPr lang="en-US" altLang="zh-CN" sz="2000" dirty="0" smtClean="0"/>
              <a:t>The forecasts of residual:</a:t>
            </a:r>
          </a:p>
          <a:p>
            <a:pPr>
              <a:buNone/>
            </a:pPr>
            <a:r>
              <a:rPr lang="en-US" altLang="zh-CN" sz="2000" dirty="0" smtClean="0"/>
              <a:t>      </a:t>
            </a: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8143900" y="6248400"/>
            <a:ext cx="542900" cy="457200"/>
          </a:xfrm>
        </p:spPr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10</a:t>
            </a:fld>
            <a:endParaRPr lang="de-DE" altLang="zh-CN"/>
          </a:p>
        </p:txBody>
      </p:sp>
      <p:graphicFrame>
        <p:nvGraphicFramePr>
          <p:cNvPr id="43009" name="Object 1"/>
          <p:cNvGraphicFramePr>
            <a:graphicFrameLocks noChangeAspect="1"/>
          </p:cNvGraphicFramePr>
          <p:nvPr/>
        </p:nvGraphicFramePr>
        <p:xfrm>
          <a:off x="2428860" y="1857364"/>
          <a:ext cx="3808412" cy="461963"/>
        </p:xfrm>
        <a:graphic>
          <a:graphicData uri="http://schemas.openxmlformats.org/presentationml/2006/ole">
            <p:oleObj spid="_x0000_s43009" name="公式" r:id="rId3" imgW="1498320" imgH="253800" progId="Equation.3">
              <p:embed/>
            </p:oleObj>
          </a:graphicData>
        </a:graphic>
      </p:graphicFrame>
      <p:graphicFrame>
        <p:nvGraphicFramePr>
          <p:cNvPr id="43010" name="Object 2"/>
          <p:cNvGraphicFramePr>
            <a:graphicFrameLocks noChangeAspect="1"/>
          </p:cNvGraphicFramePr>
          <p:nvPr/>
        </p:nvGraphicFramePr>
        <p:xfrm>
          <a:off x="1571604" y="2714620"/>
          <a:ext cx="2774950" cy="461963"/>
        </p:xfrm>
        <a:graphic>
          <a:graphicData uri="http://schemas.openxmlformats.org/presentationml/2006/ole">
            <p:oleObj spid="_x0000_s43010" name="公式" r:id="rId4" imgW="1091880" imgH="253800" progId="Equation.3">
              <p:embed/>
            </p:oleObj>
          </a:graphicData>
        </a:graphic>
      </p:graphicFrame>
      <p:graphicFrame>
        <p:nvGraphicFramePr>
          <p:cNvPr id="43011" name="Object 3"/>
          <p:cNvGraphicFramePr>
            <a:graphicFrameLocks noChangeAspect="1"/>
          </p:cNvGraphicFramePr>
          <p:nvPr/>
        </p:nvGraphicFramePr>
        <p:xfrm>
          <a:off x="3286116" y="3714752"/>
          <a:ext cx="2936875" cy="461962"/>
        </p:xfrm>
        <a:graphic>
          <a:graphicData uri="http://schemas.openxmlformats.org/presentationml/2006/ole">
            <p:oleObj spid="_x0000_s43011" name="公式" r:id="rId5" imgW="1155600" imgH="253800" progId="Equation.3">
              <p:embed/>
            </p:oleObj>
          </a:graphicData>
        </a:graphic>
      </p:graphicFrame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5072066" y="2714620"/>
          <a:ext cx="2549525" cy="461963"/>
        </p:xfrm>
        <a:graphic>
          <a:graphicData uri="http://schemas.openxmlformats.org/presentationml/2006/ole">
            <p:oleObj spid="_x0000_s43012" name="公式" r:id="rId6" imgW="1002960" imgH="253800" progId="Equation.3">
              <p:embed/>
            </p:oleObj>
          </a:graphicData>
        </a:graphic>
      </p:graphicFrame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1142976" y="4714884"/>
          <a:ext cx="6572250" cy="500062"/>
        </p:xfrm>
        <a:graphic>
          <a:graphicData uri="http://schemas.openxmlformats.org/presentationml/2006/ole">
            <p:oleObj spid="_x0000_s43013" name="公式" r:id="rId7" imgW="2946240" imgH="266400" progId="Equation.3">
              <p:embed/>
            </p:oleObj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730250" y="5357826"/>
          <a:ext cx="8413750" cy="500063"/>
        </p:xfrm>
        <a:graphic>
          <a:graphicData uri="http://schemas.openxmlformats.org/presentationml/2006/ole">
            <p:oleObj spid="_x0000_s43014" name="公式" r:id="rId8" imgW="3771720" imgH="266400" progId="Equation.3">
              <p:embed/>
            </p:oleObj>
          </a:graphicData>
        </a:graphic>
      </p:graphicFrame>
      <p:graphicFrame>
        <p:nvGraphicFramePr>
          <p:cNvPr id="43015" name="Object 7"/>
          <p:cNvGraphicFramePr>
            <a:graphicFrameLocks noChangeAspect="1"/>
          </p:cNvGraphicFramePr>
          <p:nvPr/>
        </p:nvGraphicFramePr>
        <p:xfrm>
          <a:off x="1000100" y="6000768"/>
          <a:ext cx="7196138" cy="500062"/>
        </p:xfrm>
        <a:graphic>
          <a:graphicData uri="http://schemas.openxmlformats.org/presentationml/2006/ole">
            <p:oleObj spid="_x0000_s43015" name="公式" r:id="rId9" imgW="3225600" imgH="26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Application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00174"/>
            <a:ext cx="8686800" cy="4857784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i="1" dirty="0" smtClean="0">
                <a:solidFill>
                  <a:schemeClr val="bg2"/>
                </a:solidFill>
                <a:latin typeface="Arial" charset="0"/>
                <a:ea typeface="宋体" pitchFamily="2" charset="-122"/>
                <a:cs typeface="Arial" charset="0"/>
              </a:rPr>
              <a:t>Monthly international airline passengers from January 1949 to December 1962 ( Point forecasts for one year)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i="1" dirty="0" smtClean="0">
                <a:solidFill>
                  <a:schemeClr val="bg2"/>
                </a:solidFill>
                <a:latin typeface="Arial" charset="0"/>
                <a:ea typeface="宋体" pitchFamily="2" charset="-122"/>
                <a:cs typeface="Arial" charset="0"/>
              </a:rPr>
              <a:t>Australia employed persons from February 1978 to April 1991 ( Point forecasts for one year)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dirty="0" smtClean="0"/>
              <a:t>Total takings from accommodation from January 1980 to June 1995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dirty="0" smtClean="0"/>
              <a:t>Monthly Australian imports from Japan from July 1965 to October 1993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dirty="0" smtClean="0"/>
              <a:t>Total number of room nights occupied from January 1980 to June 1995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dirty="0" smtClean="0"/>
              <a:t>Monthly Australian sales of </a:t>
            </a:r>
            <a:r>
              <a:rPr lang="en-US" altLang="zh-CN" sz="2000" dirty="0" err="1" smtClean="0"/>
              <a:t>redwine</a:t>
            </a:r>
            <a:r>
              <a:rPr lang="en-US" altLang="zh-CN" sz="2000" dirty="0" smtClean="0"/>
              <a:t> from January 1980 to July 1995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dirty="0" smtClean="0"/>
              <a:t>US monthly sales of chemicals from January 1971 to December 1991</a:t>
            </a: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11</a:t>
            </a:fld>
            <a:endParaRPr lang="de-DE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76251"/>
            <a:ext cx="8229600" cy="523857"/>
          </a:xfrm>
        </p:spPr>
        <p:txBody>
          <a:bodyPr/>
          <a:lstStyle/>
          <a:p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Example 1</a:t>
            </a:r>
            <a:endParaRPr lang="zh-CN" altLang="en-US" sz="28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12</a:t>
            </a:fld>
            <a:endParaRPr lang="de-DE" altLang="zh-CN"/>
          </a:p>
        </p:txBody>
      </p:sp>
      <p:pic>
        <p:nvPicPr>
          <p:cNvPr id="11265" name="Picture 1" descr="D:\R-files\Ma jing-Data\series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000108"/>
            <a:ext cx="8715435" cy="58578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5357826"/>
            <a:ext cx="6000792" cy="357190"/>
          </a:xfrm>
        </p:spPr>
        <p:txBody>
          <a:bodyPr/>
          <a:lstStyle/>
          <a:p>
            <a:r>
              <a:rPr lang="en-US" altLang="zh-CN" sz="2000" dirty="0" smtClean="0"/>
              <a:t> The selected best model is AR(2) model: </a:t>
            </a:r>
            <a:endParaRPr lang="zh-CN" altLang="en-US" sz="20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13</a:t>
            </a:fld>
            <a:endParaRPr lang="de-DE" altLang="zh-CN"/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71472" y="785794"/>
          <a:ext cx="3571900" cy="2571768"/>
        </p:xfrm>
        <a:graphic>
          <a:graphicData uri="http://schemas.openxmlformats.org/drawingml/2006/table">
            <a:tbl>
              <a:tblPr/>
              <a:tblGrid>
                <a:gridCol w="2245216"/>
                <a:gridCol w="1326684"/>
              </a:tblGrid>
              <a:tr h="4286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kern="100" dirty="0" smtClean="0">
                          <a:latin typeface="Times New Roman"/>
                          <a:ea typeface="Times New Roman"/>
                          <a:cs typeface="Times New Roman"/>
                        </a:rPr>
                        <a:t>Number </a:t>
                      </a:r>
                      <a:r>
                        <a:rPr lang="en-US" sz="1600" b="1" kern="100" dirty="0">
                          <a:latin typeface="Times New Roman"/>
                          <a:ea typeface="Times New Roman"/>
                          <a:cs typeface="Times New Roman"/>
                        </a:rPr>
                        <a:t>of </a:t>
                      </a:r>
                      <a:r>
                        <a:rPr lang="en-US" sz="1600" b="1" kern="100" dirty="0" smtClean="0">
                          <a:latin typeface="Times New Roman"/>
                          <a:ea typeface="Times New Roman"/>
                          <a:cs typeface="Times New Roman"/>
                        </a:rPr>
                        <a:t>observations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latin typeface="Times New Roman"/>
                          <a:ea typeface="Times New Roman"/>
                          <a:cs typeface="Times New Roman"/>
                        </a:rPr>
                        <a:t>144</a:t>
                      </a:r>
                      <a:endParaRPr lang="zh-CN" sz="1600" kern="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kern="100" dirty="0">
                          <a:latin typeface="Times New Roman"/>
                          <a:ea typeface="Times New Roman"/>
                          <a:cs typeface="Times New Roman"/>
                        </a:rPr>
                        <a:t>Number of iteration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zh-CN" sz="1600" kern="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b="1" kern="100" dirty="0" smtClean="0"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endParaRPr lang="zh-CN" sz="1600" b="1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latin typeface="Times New Roman"/>
                          <a:ea typeface="Times New Roman"/>
                          <a:cs typeface="Times New Roman"/>
                        </a:rPr>
                        <a:t>56</a:t>
                      </a:r>
                      <a:endParaRPr lang="zh-CN" sz="1600" kern="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b="1" kern="100" dirty="0" smtClean="0">
                          <a:latin typeface="Times New Roman"/>
                          <a:ea typeface="Times New Roman"/>
                          <a:cs typeface="Times New Roman"/>
                        </a:rPr>
                        <a:t>2h+1</a:t>
                      </a:r>
                      <a:endParaRPr lang="zh-CN" sz="1600" b="1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latin typeface="Times New Roman"/>
                          <a:ea typeface="Times New Roman"/>
                          <a:cs typeface="Times New Roman"/>
                        </a:rPr>
                        <a:t>113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kern="100" dirty="0" err="1">
                          <a:latin typeface="Times New Roman"/>
                          <a:ea typeface="Times New Roman"/>
                          <a:cs typeface="Times New Roman"/>
                        </a:rPr>
                        <a:t>VarD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latin typeface="Times New Roman"/>
                          <a:ea typeface="Times New Roman"/>
                          <a:cs typeface="Times New Roman"/>
                        </a:rPr>
                        <a:t>0.0004360177</a:t>
                      </a:r>
                      <a:endParaRPr lang="zh-CN" sz="1600" kern="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862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kern="100" dirty="0" err="1">
                          <a:latin typeface="Times New Roman"/>
                          <a:ea typeface="Times New Roman"/>
                          <a:cs typeface="Times New Roman"/>
                        </a:rPr>
                        <a:t>VarS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latin typeface="Times New Roman"/>
                          <a:ea typeface="Times New Roman"/>
                          <a:cs typeface="Times New Roman"/>
                        </a:rPr>
                        <a:t>0.008004573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500562" y="785797"/>
          <a:ext cx="4214842" cy="2560320"/>
        </p:xfrm>
        <a:graphic>
          <a:graphicData uri="http://schemas.openxmlformats.org/drawingml/2006/table">
            <a:tbl>
              <a:tblPr/>
              <a:tblGrid>
                <a:gridCol w="1074550"/>
                <a:gridCol w="1503460"/>
                <a:gridCol w="1636832"/>
              </a:tblGrid>
              <a:tr h="32657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p    </a:t>
                      </a:r>
                      <a:r>
                        <a:rPr lang="en-US" sz="1600" b="1" dirty="0" smtClean="0">
                          <a:latin typeface="宋体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     q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zh-CN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-508.9748 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-559.2373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-604.3391 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-608.4435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zh-CN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i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-608.7617 </a:t>
                      </a:r>
                      <a:endParaRPr lang="zh-CN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-603.8375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-603.8309 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-603.6565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-598.8709 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-598.8729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657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-596.8050 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-591.8418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71472" y="3714752"/>
          <a:ext cx="4572031" cy="1428759"/>
        </p:xfrm>
        <a:graphic>
          <a:graphicData uri="http://schemas.openxmlformats.org/drawingml/2006/table">
            <a:tbl>
              <a:tblPr/>
              <a:tblGrid>
                <a:gridCol w="1294335"/>
                <a:gridCol w="1162456"/>
                <a:gridCol w="1057990"/>
                <a:gridCol w="1057250"/>
              </a:tblGrid>
              <a:tr h="4762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ar1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ar2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intercept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Coefficients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0.5294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0.2523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0.0047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s.e.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0.0803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0.0809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0.0104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7" name="直接连接符 16"/>
          <p:cNvCxnSpPr/>
          <p:nvPr/>
        </p:nvCxnSpPr>
        <p:spPr>
          <a:xfrm>
            <a:off x="4500562" y="785794"/>
            <a:ext cx="1071570" cy="3571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71472" y="5786454"/>
          <a:ext cx="8072494" cy="500062"/>
        </p:xfrm>
        <a:graphic>
          <a:graphicData uri="http://schemas.openxmlformats.org/presentationml/2006/ole">
            <p:oleObj spid="_x0000_s10241" name="公式" r:id="rId4" imgW="3898800" imgH="253800" progId="Equation.3">
              <p:embed/>
            </p:oleObj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357950" y="4143380"/>
            <a:ext cx="22145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 smtClean="0"/>
              <a:t>BIC: </a:t>
            </a:r>
            <a:r>
              <a:rPr lang="en-US" altLang="zh-CN" dirty="0" smtClean="0">
                <a:solidFill>
                  <a:srgbClr val="FF0000"/>
                </a:solidFill>
              </a:rPr>
              <a:t>p=2, q=0.</a:t>
            </a:r>
          </a:p>
          <a:p>
            <a:pPr>
              <a:spcAft>
                <a:spcPts val="600"/>
              </a:spcAft>
            </a:pPr>
            <a:r>
              <a:rPr lang="en-US" altLang="zh-CN" dirty="0" smtClean="0">
                <a:solidFill>
                  <a:srgbClr val="FF0000"/>
                </a:solidFill>
              </a:rPr>
              <a:t>        AR(2) model </a:t>
            </a:r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22" name="右箭头 21"/>
          <p:cNvSpPr/>
          <p:nvPr/>
        </p:nvSpPr>
        <p:spPr>
          <a:xfrm rot="3531938">
            <a:off x="6686108" y="3662703"/>
            <a:ext cx="500066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右箭头 25"/>
          <p:cNvSpPr/>
          <p:nvPr/>
        </p:nvSpPr>
        <p:spPr>
          <a:xfrm rot="10590162">
            <a:off x="5649641" y="4372747"/>
            <a:ext cx="500066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8215338" y="6248400"/>
            <a:ext cx="471462" cy="457200"/>
          </a:xfrm>
        </p:spPr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14</a:t>
            </a:fld>
            <a:endParaRPr lang="de-DE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57223" y="4214819"/>
          <a:ext cx="7429553" cy="2222766"/>
        </p:xfrm>
        <a:graphic>
          <a:graphicData uri="http://schemas.openxmlformats.org/drawingml/2006/table">
            <a:tbl>
              <a:tblPr/>
              <a:tblGrid>
                <a:gridCol w="1143006"/>
                <a:gridCol w="1357323"/>
                <a:gridCol w="1357321"/>
                <a:gridCol w="1357322"/>
                <a:gridCol w="949055"/>
                <a:gridCol w="1265526"/>
              </a:tblGrid>
              <a:tr h="4477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K=1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K=2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K=3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K=12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7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6.2268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6.2357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6.2446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6.3247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7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-0.0857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-0.1428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-0.0089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-0.1149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7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-0.0236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-0.0202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-0.0157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0.0007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7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8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endParaRPr lang="en-US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6.1174</a:t>
                      </a:r>
                      <a:endParaRPr lang="zh-CN" sz="18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6.0727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6.2201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6.2106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0034" y="714356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dirty="0" smtClean="0"/>
              <a:t>The forecasts model: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357554" y="642918"/>
          <a:ext cx="3429024" cy="500066"/>
        </p:xfrm>
        <a:graphic>
          <a:graphicData uri="http://schemas.openxmlformats.org/presentationml/2006/ole">
            <p:oleObj spid="_x0000_s9217" name="公式" r:id="rId3" imgW="1498320" imgH="253800" progId="Equation.3">
              <p:embed/>
            </p:oleObj>
          </a:graphicData>
        </a:graphic>
      </p:graphicFrame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1071538" y="4714884"/>
          <a:ext cx="668338" cy="357190"/>
        </p:xfrm>
        <a:graphic>
          <a:graphicData uri="http://schemas.openxmlformats.org/presentationml/2006/ole">
            <p:oleObj spid="_x0000_s9218" name="公式" r:id="rId4" imgW="304560" imgH="253800" progId="Equation.3">
              <p:embed/>
            </p:oleObj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1071538" y="5143512"/>
          <a:ext cx="639762" cy="357187"/>
        </p:xfrm>
        <a:graphic>
          <a:graphicData uri="http://schemas.openxmlformats.org/presentationml/2006/ole">
            <p:oleObj spid="_x0000_s9219" name="公式" r:id="rId5" imgW="291960" imgH="253800" progId="Equation.3">
              <p:embed/>
            </p:oleObj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1071538" y="5572140"/>
          <a:ext cx="668338" cy="357188"/>
        </p:xfrm>
        <a:graphic>
          <a:graphicData uri="http://schemas.openxmlformats.org/presentationml/2006/ole">
            <p:oleObj spid="_x0000_s9220" name="公式" r:id="rId6" imgW="304560" imgH="253800" progId="Equation.3">
              <p:embed/>
            </p:oleObj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0034" y="1357298"/>
            <a:ext cx="150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dirty="0" smtClean="0"/>
              <a:t>For k=1:</a:t>
            </a:r>
            <a:endParaRPr lang="zh-CN" altLang="en-US" dirty="0"/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1928794" y="1285875"/>
          <a:ext cx="7000924" cy="500063"/>
        </p:xfrm>
        <a:graphic>
          <a:graphicData uri="http://schemas.openxmlformats.org/presentationml/2006/ole">
            <p:oleObj spid="_x0000_s9221" name="公式" r:id="rId7" imgW="3759120" imgH="253800" progId="Equation.3">
              <p:embed/>
            </p:oleObj>
          </a:graphicData>
        </a:graphic>
      </p:graphicFrame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2000232" y="1928802"/>
          <a:ext cx="5357850" cy="500066"/>
        </p:xfrm>
        <a:graphic>
          <a:graphicData uri="http://schemas.openxmlformats.org/presentationml/2006/ole">
            <p:oleObj spid="_x0000_s9222" name="公式" r:id="rId8" imgW="2387520" imgH="253800" progId="Equation.3">
              <p:embed/>
            </p:oleObj>
          </a:graphicData>
        </a:graphic>
      </p:graphicFrame>
      <p:graphicFrame>
        <p:nvGraphicFramePr>
          <p:cNvPr id="9223" name="Object 7"/>
          <p:cNvGraphicFramePr>
            <a:graphicFrameLocks noChangeAspect="1"/>
          </p:cNvGraphicFramePr>
          <p:nvPr/>
        </p:nvGraphicFramePr>
        <p:xfrm>
          <a:off x="785786" y="2500306"/>
          <a:ext cx="8143932" cy="500066"/>
        </p:xfrm>
        <a:graphic>
          <a:graphicData uri="http://schemas.openxmlformats.org/presentationml/2006/ole">
            <p:oleObj spid="_x0000_s9223" name="公式" r:id="rId9" imgW="3797280" imgH="253800" progId="Equation.3">
              <p:embed/>
            </p:oleObj>
          </a:graphicData>
        </a:graphic>
      </p:graphicFrame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1428728" y="3071810"/>
          <a:ext cx="7715272" cy="428628"/>
        </p:xfrm>
        <a:graphic>
          <a:graphicData uri="http://schemas.openxmlformats.org/presentationml/2006/ole">
            <p:oleObj spid="_x0000_s9224" name="公式" r:id="rId10" imgW="4012920" imgH="203040" progId="Equation.3">
              <p:embed/>
            </p:oleObj>
          </a:graphicData>
        </a:graphic>
      </p:graphicFrame>
      <p:graphicFrame>
        <p:nvGraphicFramePr>
          <p:cNvPr id="9225" name="Object 9"/>
          <p:cNvGraphicFramePr>
            <a:graphicFrameLocks noChangeAspect="1"/>
          </p:cNvGraphicFramePr>
          <p:nvPr/>
        </p:nvGraphicFramePr>
        <p:xfrm>
          <a:off x="1428728" y="3571876"/>
          <a:ext cx="1357322" cy="357190"/>
        </p:xfrm>
        <a:graphic>
          <a:graphicData uri="http://schemas.openxmlformats.org/presentationml/2006/ole">
            <p:oleObj spid="_x0000_s9225" name="公式" r:id="rId11" imgW="672840" imgH="177480" progId="Equation.3">
              <p:embed/>
            </p:oleObj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14348" y="6500834"/>
            <a:ext cx="61436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  Forecasts of trend, seasonality, residual and the sum of them for one year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15</a:t>
            </a:fld>
            <a:endParaRPr lang="de-DE" altLang="zh-CN"/>
          </a:p>
        </p:txBody>
      </p:sp>
      <p:sp>
        <p:nvSpPr>
          <p:cNvPr id="7" name="TextBox 6"/>
          <p:cNvSpPr txBox="1"/>
          <p:nvPr/>
        </p:nvSpPr>
        <p:spPr>
          <a:xfrm>
            <a:off x="1142976" y="6550223"/>
            <a:ext cx="75009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The sum of trend and seasonality with forecasts for one year (log-scaled and exponential) </a:t>
            </a:r>
            <a:endParaRPr lang="zh-CN" altLang="en-US" sz="1400" dirty="0"/>
          </a:p>
        </p:txBody>
      </p:sp>
      <p:pic>
        <p:nvPicPr>
          <p:cNvPr id="8193" name="Picture 1" descr="D:\R-files\Example 3-serie\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500042"/>
            <a:ext cx="8929718" cy="60007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76251"/>
            <a:ext cx="8229600" cy="523857"/>
          </a:xfrm>
        </p:spPr>
        <p:txBody>
          <a:bodyPr/>
          <a:lstStyle/>
          <a:p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Example 2</a:t>
            </a:r>
            <a:endParaRPr lang="zh-CN" altLang="en-US" sz="28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16</a:t>
            </a:fld>
            <a:endParaRPr lang="de-DE" altLang="zh-CN"/>
          </a:p>
        </p:txBody>
      </p:sp>
      <p:pic>
        <p:nvPicPr>
          <p:cNvPr id="7170" name="Picture 2" descr="D:\R-files\p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1000108"/>
            <a:ext cx="8643998" cy="58578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17</a:t>
            </a:fld>
            <a:endParaRPr lang="de-DE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28596" y="571482"/>
          <a:ext cx="3857652" cy="2571766"/>
        </p:xfrm>
        <a:graphic>
          <a:graphicData uri="http://schemas.openxmlformats.org/drawingml/2006/table">
            <a:tbl>
              <a:tblPr/>
              <a:tblGrid>
                <a:gridCol w="2250296"/>
                <a:gridCol w="1607356"/>
              </a:tblGrid>
              <a:tr h="4255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kern="100" dirty="0">
                          <a:latin typeface="Times New Roman"/>
                          <a:ea typeface="Times New Roman"/>
                          <a:cs typeface="Times New Roman"/>
                        </a:rPr>
                        <a:t>Number of observations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latin typeface="Times New Roman"/>
                          <a:ea typeface="Times New Roman"/>
                          <a:cs typeface="Times New Roman"/>
                        </a:rPr>
                        <a:t>159</a:t>
                      </a:r>
                      <a:endParaRPr lang="zh-CN" sz="1600" kern="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4255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kern="100">
                          <a:latin typeface="Times New Roman"/>
                          <a:ea typeface="Times New Roman"/>
                          <a:cs typeface="Times New Roman"/>
                        </a:rPr>
                        <a:t>Number of iteration</a:t>
                      </a:r>
                      <a:endParaRPr lang="zh-CN" sz="1600" kern="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48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b="1" kern="100" dirty="0" smtClean="0">
                          <a:latin typeface="Times New Roman"/>
                          <a:ea typeface="Times New Roman"/>
                          <a:cs typeface="Times New Roman"/>
                        </a:rPr>
                        <a:t>h</a:t>
                      </a:r>
                      <a:endParaRPr lang="zh-CN" sz="1600" b="1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483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600" b="1" kern="100" dirty="0" smtClean="0">
                          <a:latin typeface="Times New Roman"/>
                          <a:ea typeface="Times New Roman"/>
                          <a:cs typeface="Times New Roman"/>
                        </a:rPr>
                        <a:t>2h+1</a:t>
                      </a:r>
                      <a:endParaRPr lang="zh-CN" sz="1600" b="1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latin typeface="Times New Roman"/>
                          <a:ea typeface="Times New Roman"/>
                          <a:cs typeface="Times New Roman"/>
                        </a:rPr>
                        <a:t>37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5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kern="100" dirty="0" err="1">
                          <a:latin typeface="Times New Roman"/>
                          <a:ea typeface="Times New Roman"/>
                          <a:cs typeface="Times New Roman"/>
                        </a:rPr>
                        <a:t>VarD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latin typeface="Times New Roman"/>
                          <a:ea typeface="Times New Roman"/>
                          <a:cs typeface="Times New Roman"/>
                        </a:rPr>
                        <a:t>6.961188e-06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55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kern="100">
                          <a:latin typeface="Times New Roman"/>
                          <a:ea typeface="Times New Roman"/>
                          <a:cs typeface="Times New Roman"/>
                        </a:rPr>
                        <a:t>VarS</a:t>
                      </a:r>
                      <a:endParaRPr lang="zh-CN" sz="1600" kern="1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latin typeface="Times New Roman"/>
                          <a:ea typeface="Times New Roman"/>
                          <a:cs typeface="Times New Roman"/>
                        </a:rPr>
                        <a:t>1.722117e-05</a:t>
                      </a:r>
                      <a:endParaRPr lang="zh-CN" sz="1600" kern="1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643438" y="560077"/>
          <a:ext cx="4214842" cy="2563153"/>
        </p:xfrm>
        <a:graphic>
          <a:graphicData uri="http://schemas.openxmlformats.org/drawingml/2006/table">
            <a:tbl>
              <a:tblPr/>
              <a:tblGrid>
                <a:gridCol w="1000132"/>
                <a:gridCol w="1535377"/>
                <a:gridCol w="1679333"/>
              </a:tblGrid>
              <a:tr h="36859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p            q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zh-CN" sz="1600" dirty="0">
                        <a:solidFill>
                          <a:srgbClr val="0070C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0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-1469.673 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-1489.311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solidFill>
                            <a:srgbClr val="007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zh-CN" sz="1600" dirty="0">
                        <a:solidFill>
                          <a:srgbClr val="0070C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i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-1501.066 </a:t>
                      </a:r>
                      <a:endParaRPr lang="zh-CN" sz="16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-1500.433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-1500.912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-1495.886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-1495.902 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-1490.860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>
                          <a:latin typeface="Times New Roman"/>
                          <a:ea typeface="Times New Roman"/>
                          <a:cs typeface="Times New Roman"/>
                        </a:rPr>
                        <a:t>-1490.960 </a:t>
                      </a:r>
                      <a:endParaRPr lang="zh-CN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i="1" dirty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-1505.272</a:t>
                      </a:r>
                      <a:endParaRPr lang="zh-CN" sz="16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2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-1486.099 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dirty="0">
                          <a:latin typeface="Times New Roman"/>
                          <a:ea typeface="Times New Roman"/>
                          <a:cs typeface="Times New Roman"/>
                        </a:rPr>
                        <a:t>-1502.386</a:t>
                      </a:r>
                      <a:endParaRPr lang="zh-CN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428596" y="3571876"/>
          <a:ext cx="3857652" cy="1428759"/>
        </p:xfrm>
        <a:graphic>
          <a:graphicData uri="http://schemas.openxmlformats.org/drawingml/2006/table">
            <a:tbl>
              <a:tblPr/>
              <a:tblGrid>
                <a:gridCol w="1313488"/>
                <a:gridCol w="1285611"/>
                <a:gridCol w="1258553"/>
              </a:tblGrid>
              <a:tr h="4762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ar1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</a:rPr>
                        <a:t>intercept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Coefficients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0.4544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0e+00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25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s.e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0.0708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3e-04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cxnSp>
        <p:nvCxnSpPr>
          <p:cNvPr id="13" name="直接连接符 12"/>
          <p:cNvCxnSpPr/>
          <p:nvPr/>
        </p:nvCxnSpPr>
        <p:spPr>
          <a:xfrm>
            <a:off x="4643438" y="571480"/>
            <a:ext cx="1000132" cy="3571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右箭头 13"/>
          <p:cNvSpPr/>
          <p:nvPr/>
        </p:nvSpPr>
        <p:spPr>
          <a:xfrm rot="4117773">
            <a:off x="6300078" y="3343996"/>
            <a:ext cx="500066" cy="241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 rot="10800000">
            <a:off x="4500562" y="4286256"/>
            <a:ext cx="500066" cy="2414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143504" y="3786191"/>
            <a:ext cx="40004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 smtClean="0"/>
              <a:t>BIC:  </a:t>
            </a:r>
            <a:r>
              <a:rPr lang="en-US" altLang="zh-CN" dirty="0" smtClean="0">
                <a:solidFill>
                  <a:srgbClr val="FF0000"/>
                </a:solidFill>
              </a:rPr>
              <a:t>p=4, q=1: ARMA(4,1) model</a:t>
            </a:r>
          </a:p>
          <a:p>
            <a:pPr>
              <a:spcAft>
                <a:spcPts val="600"/>
              </a:spcAft>
            </a:pPr>
            <a:r>
              <a:rPr lang="en-US" altLang="zh-CN" dirty="0" smtClean="0"/>
              <a:t>         </a:t>
            </a:r>
            <a:r>
              <a:rPr lang="en-US" altLang="zh-CN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Times New Roman"/>
                <a:cs typeface="Times New Roman"/>
              </a:rPr>
              <a:t>p=1, q=0: AR(1) model</a:t>
            </a:r>
          </a:p>
          <a:p>
            <a:r>
              <a:rPr lang="en-US" altLang="zh-CN" dirty="0" smtClean="0"/>
              <a:t>       </a:t>
            </a:r>
            <a:endParaRPr lang="zh-CN" altLang="en-US" dirty="0"/>
          </a:p>
        </p:txBody>
      </p:sp>
      <p:sp>
        <p:nvSpPr>
          <p:cNvPr id="18" name="内容占位符 2"/>
          <p:cNvSpPr>
            <a:spLocks noGrp="1"/>
          </p:cNvSpPr>
          <p:nvPr>
            <p:ph idx="1"/>
          </p:nvPr>
        </p:nvSpPr>
        <p:spPr>
          <a:xfrm>
            <a:off x="214282" y="5357826"/>
            <a:ext cx="6000792" cy="357190"/>
          </a:xfrm>
        </p:spPr>
        <p:txBody>
          <a:bodyPr/>
          <a:lstStyle/>
          <a:p>
            <a:r>
              <a:rPr lang="en-US" altLang="zh-CN" sz="2000" dirty="0" smtClean="0"/>
              <a:t> The fitted AR(1) model is defined by: </a:t>
            </a:r>
            <a:endParaRPr lang="zh-CN" altLang="en-US" sz="20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2285984" y="5857892"/>
          <a:ext cx="2928958" cy="500062"/>
        </p:xfrm>
        <a:graphic>
          <a:graphicData uri="http://schemas.openxmlformats.org/presentationml/2006/ole">
            <p:oleObj spid="_x0000_s6145" name="公式" r:id="rId4" imgW="123156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7572396" y="6248400"/>
            <a:ext cx="1114404" cy="457200"/>
          </a:xfrm>
        </p:spPr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18</a:t>
            </a:fld>
            <a:endParaRPr lang="de-DE" altLang="zh-CN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57223" y="4000504"/>
          <a:ext cx="7429552" cy="2428892"/>
        </p:xfrm>
        <a:graphic>
          <a:graphicData uri="http://schemas.openxmlformats.org/drawingml/2006/table">
            <a:tbl>
              <a:tblPr/>
              <a:tblGrid>
                <a:gridCol w="928694"/>
                <a:gridCol w="1291838"/>
                <a:gridCol w="1319618"/>
                <a:gridCol w="1458526"/>
                <a:gridCol w="868669"/>
                <a:gridCol w="1562207"/>
              </a:tblGrid>
              <a:tr h="496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K=1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K=2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K=3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</a:rPr>
                        <a:t>K=12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3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8.9482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8.9440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8.9398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8.9020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0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0.0040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0.0016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0.0031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0.0023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3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0.0004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0.0002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6.1060e-05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-2.1354e-05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l-GR" sz="18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Σ</a:t>
                      </a:r>
                      <a:endParaRPr lang="en-US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800" kern="1200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8.9525</a:t>
                      </a:r>
                      <a:endParaRPr lang="zh-CN" altLang="zh-CN" sz="1800" kern="12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8.9457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</a:rPr>
                        <a:t>8.9429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宋体"/>
                          <a:ea typeface="Times New Roman"/>
                          <a:cs typeface="Times New Roman"/>
                        </a:rPr>
                        <a:t>…</a:t>
                      </a:r>
                      <a:endParaRPr lang="zh-CN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8.9043</a:t>
                      </a:r>
                      <a:endParaRPr lang="zh-CN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000100" y="4572008"/>
          <a:ext cx="668338" cy="357188"/>
        </p:xfrm>
        <a:graphic>
          <a:graphicData uri="http://schemas.openxmlformats.org/presentationml/2006/ole">
            <p:oleObj spid="_x0000_s5121" name="公式" r:id="rId3" imgW="304560" imgH="253800" progId="Equation.3">
              <p:embed/>
            </p:oleObj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000100" y="5072074"/>
          <a:ext cx="639762" cy="357187"/>
        </p:xfrm>
        <a:graphic>
          <a:graphicData uri="http://schemas.openxmlformats.org/presentationml/2006/ole">
            <p:oleObj spid="_x0000_s5122" name="公式" r:id="rId4" imgW="291960" imgH="253800" progId="Equation.3">
              <p:embed/>
            </p:oleObj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1000100" y="5572140"/>
          <a:ext cx="668338" cy="357188"/>
        </p:xfrm>
        <a:graphic>
          <a:graphicData uri="http://schemas.openxmlformats.org/presentationml/2006/ole">
            <p:oleObj spid="_x0000_s5123" name="公式" r:id="rId5" imgW="304560" imgH="253800" progId="Equation.3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5786" y="6550223"/>
            <a:ext cx="6357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Forecasts of trend, seasonality, residual and the sum of them for one year</a:t>
            </a:r>
            <a:endParaRPr lang="zh-CN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00034" y="714356"/>
            <a:ext cx="464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dirty="0" smtClean="0"/>
              <a:t>The forecasts model:</a:t>
            </a:r>
            <a:endParaRPr lang="zh-CN" altLang="en-US" dirty="0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3357563" y="642938"/>
          <a:ext cx="3286125" cy="500046"/>
        </p:xfrm>
        <a:graphic>
          <a:graphicData uri="http://schemas.openxmlformats.org/presentationml/2006/ole">
            <p:oleObj spid="_x0000_s5124" name="公式" r:id="rId6" imgW="1498320" imgH="253800" progId="Equation.3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0034" y="1428736"/>
            <a:ext cx="150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dirty="0" smtClean="0"/>
              <a:t>For k=1:</a:t>
            </a:r>
            <a:endParaRPr lang="zh-CN" altLang="en-US" dirty="0"/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928688" y="1928802"/>
          <a:ext cx="8215312" cy="500066"/>
        </p:xfrm>
        <a:graphic>
          <a:graphicData uri="http://schemas.openxmlformats.org/presentationml/2006/ole">
            <p:oleObj spid="_x0000_s5125" name="公式" r:id="rId7" imgW="3746160" imgH="253800" progId="Equation.3">
              <p:embed/>
            </p:oleObj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928662" y="2643182"/>
          <a:ext cx="5157787" cy="500066"/>
        </p:xfrm>
        <a:graphic>
          <a:graphicData uri="http://schemas.openxmlformats.org/presentationml/2006/ole">
            <p:oleObj spid="_x0000_s5126" name="公式" r:id="rId8" imgW="2298600" imgH="253800" progId="Equation.3">
              <p:embed/>
            </p:oleObj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928662" y="3286124"/>
          <a:ext cx="5749925" cy="500066"/>
        </p:xfrm>
        <a:graphic>
          <a:graphicData uri="http://schemas.openxmlformats.org/presentationml/2006/ole">
            <p:oleObj spid="_x0000_s5127" name="公式" r:id="rId9" imgW="2705040" imgH="253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4E4121-57B6-4292-8B29-375BF5D4EF8F}" type="slidenum">
              <a:rPr lang="zh-CN" altLang="de-DE" smtClean="0"/>
              <a:pPr>
                <a:defRPr/>
              </a:pPr>
              <a:t>19</a:t>
            </a:fld>
            <a:endParaRPr lang="de-DE" altLang="zh-CN"/>
          </a:p>
        </p:txBody>
      </p:sp>
      <p:sp>
        <p:nvSpPr>
          <p:cNvPr id="6" name="矩形 5"/>
          <p:cNvSpPr/>
          <p:nvPr/>
        </p:nvSpPr>
        <p:spPr>
          <a:xfrm>
            <a:off x="1142976" y="6550223"/>
            <a:ext cx="76438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smtClean="0"/>
              <a:t>The sum of trend and seasonality with forecasts for one year (log-scaled and exponential) </a:t>
            </a:r>
            <a:endParaRPr lang="zh-CN" altLang="en-US" sz="1400" dirty="0"/>
          </a:p>
        </p:txBody>
      </p:sp>
      <p:pic>
        <p:nvPicPr>
          <p:cNvPr id="4097" name="Picture 1" descr="D:\R-files\Example 4-empper\empper-forecas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21" y="428604"/>
            <a:ext cx="8858280" cy="607223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7CE72DB-F6B4-44EA-AF3B-9548BE42A608}" type="slidenum">
              <a:rPr lang="zh-CN" altLang="de-DE"/>
              <a:pPr>
                <a:defRPr/>
              </a:pPr>
              <a:t>20</a:t>
            </a:fld>
            <a:endParaRPr lang="de-DE" altLang="zh-CN"/>
          </a:p>
        </p:txBody>
      </p:sp>
      <p:sp>
        <p:nvSpPr>
          <p:cNvPr id="10242" name="灯片编号占位符 4"/>
          <p:cNvSpPr txBox="1">
            <a:spLocks noGrp="1"/>
          </p:cNvSpPr>
          <p:nvPr/>
        </p:nvSpPr>
        <p:spPr bwMode="auto">
          <a:xfrm>
            <a:off x="8286776" y="6248400"/>
            <a:ext cx="4000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3256EC7-C7D3-4CC7-8170-6D2F60056FA0}" type="slidenum">
              <a:rPr lang="de-DE" altLang="zh-CN" sz="1200">
                <a:latin typeface="Arial Black" pitchFamily="34" charset="0"/>
                <a:ea typeface="宋体" pitchFamily="2" charset="-122"/>
              </a:rPr>
              <a:pPr algn="r"/>
              <a:t>20</a:t>
            </a:fld>
            <a:endParaRPr lang="de-DE" altLang="zh-CN" sz="1200">
              <a:latin typeface="Arial Black" pitchFamily="34" charset="0"/>
              <a:ea typeface="宋体" pitchFamily="2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642918"/>
            <a:ext cx="8229600" cy="5635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Arial" charset="0"/>
                <a:ea typeface="宋体" pitchFamily="2" charset="-122"/>
                <a:cs typeface="Arial" charset="0"/>
              </a:rPr>
              <a:t>Conclusion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85860"/>
            <a:ext cx="8258204" cy="53578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Decomposing seasonal time series into trend, seasonality and residual has a long tradition.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The trend and seasonality can be estimated by locally weighted regression, while the residual can be modeled by an ARMA process, so the whole model is said to be a </a:t>
            </a:r>
            <a:r>
              <a:rPr lang="en-US" altLang="zh-CN" sz="2000" dirty="0" err="1" smtClean="0">
                <a:latin typeface="Arial" charset="0"/>
                <a:ea typeface="宋体" pitchFamily="2" charset="-122"/>
                <a:cs typeface="Arial" charset="0"/>
              </a:rPr>
              <a:t>semiparametric</a:t>
            </a: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 model.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The asymptotically optimal bandwidth is obtained by minimizing the mean averaged squared error.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Arial" charset="0"/>
                <a:ea typeface="宋体" pitchFamily="2" charset="-122"/>
                <a:cs typeface="Arial" charset="0"/>
              </a:rPr>
              <a:t>Another focus is the short-term forecasting. Trend increases according to linear extrapolation, seasonality follows the last 12 months estimates, and residuals are based on the point predictions procedure for ARMA model.  </a:t>
            </a:r>
          </a:p>
          <a:p>
            <a:pPr marL="609600" indent="-609600">
              <a:buNone/>
            </a:pPr>
            <a:endParaRPr lang="en-US" altLang="zh-CN" sz="20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marL="609600" indent="-609600" eaLnBrk="1" hangingPunct="1">
              <a:spcBef>
                <a:spcPct val="50000"/>
              </a:spcBef>
              <a:buSzTx/>
              <a:buFont typeface="Arial" charset="0"/>
              <a:buNone/>
            </a:pPr>
            <a:endParaRPr lang="en-US" altLang="zh-CN" b="1" dirty="0" smtClean="0">
              <a:solidFill>
                <a:schemeClr val="tx2"/>
              </a:solidFill>
              <a:latin typeface="Arial" charset="0"/>
              <a:ea typeface="宋体" pitchFamily="2" charset="-122"/>
              <a:cs typeface="Arial" charset="0"/>
            </a:endParaRPr>
          </a:p>
          <a:p>
            <a:pPr marL="609600" indent="-609600" eaLnBrk="1" hangingPunct="1">
              <a:spcBef>
                <a:spcPct val="50000"/>
              </a:spcBef>
              <a:buSzTx/>
              <a:buFont typeface="Wingdings" pitchFamily="2" charset="2"/>
              <a:buNone/>
            </a:pPr>
            <a:endParaRPr lang="en-US" altLang="zh-CN" sz="4400" b="1" dirty="0" smtClean="0">
              <a:solidFill>
                <a:schemeClr val="tx2"/>
              </a:solidFill>
              <a:latin typeface="Arial" charset="0"/>
              <a:ea typeface="宋体" pitchFamily="2" charset="-122"/>
              <a:cs typeface="Arial" charset="0"/>
            </a:endParaRPr>
          </a:p>
          <a:p>
            <a:pPr marL="990600" lvl="1" indent="-533400" eaLnBrk="1" hangingPunct="1">
              <a:spcBef>
                <a:spcPct val="50000"/>
              </a:spcBef>
              <a:buClr>
                <a:srgbClr val="000099"/>
              </a:buClr>
              <a:buFont typeface="Wingdings" pitchFamily="2" charset="2"/>
              <a:buNone/>
            </a:pPr>
            <a:endParaRPr lang="en-US" altLang="zh-CN" sz="4400" dirty="0" smtClean="0">
              <a:latin typeface="Arial" charset="0"/>
              <a:ea typeface="宋体" pitchFamily="2" charset="-122"/>
              <a:cs typeface="Arial" charset="0"/>
            </a:endParaRPr>
          </a:p>
          <a:p>
            <a:pPr marL="990600" lvl="1" indent="-533400" eaLnBrk="1" hangingPunct="1">
              <a:spcBef>
                <a:spcPct val="50000"/>
              </a:spcBef>
              <a:buClr>
                <a:srgbClr val="000099"/>
              </a:buClr>
              <a:buFont typeface="Wingdings" pitchFamily="2" charset="2"/>
              <a:buNone/>
            </a:pPr>
            <a:endParaRPr lang="de-DE" altLang="zh-CN" sz="4400" dirty="0" smtClean="0">
              <a:latin typeface="Arial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3_Pixel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2605</TotalTime>
  <Words>1112</Words>
  <Application>Microsoft Office PowerPoint</Application>
  <PresentationFormat>全屏显示(4:3)</PresentationFormat>
  <Paragraphs>300</Paragraphs>
  <Slides>20</Slides>
  <Notes>11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3_Pixel</vt:lpstr>
      <vt:lpstr>公式</vt:lpstr>
      <vt:lpstr>Microsoft 公式 3.0</vt:lpstr>
      <vt:lpstr>Modelling and Forecasting Seasonal Time Series using the ARMA-version of the Berlin Method   Jing  Ma </vt:lpstr>
      <vt:lpstr>Agenda</vt:lpstr>
      <vt:lpstr>Introduction: Seasonal Time Series</vt:lpstr>
      <vt:lpstr>Berlin Method (Berliner Verfahren)</vt:lpstr>
      <vt:lpstr>Berlin Method</vt:lpstr>
      <vt:lpstr>Semiparametric Regression Model with ARMA Errors and Seasonality</vt:lpstr>
      <vt:lpstr>Semiparametric Regression Model with ARMA Errors and Seasonality</vt:lpstr>
      <vt:lpstr>Asymptotic Properties</vt:lpstr>
      <vt:lpstr>Bandwidth Selection: Plug-In</vt:lpstr>
      <vt:lpstr>Forecasting</vt:lpstr>
      <vt:lpstr>Application</vt:lpstr>
      <vt:lpstr>Example 1</vt:lpstr>
      <vt:lpstr>幻灯片 13</vt:lpstr>
      <vt:lpstr>幻灯片 14</vt:lpstr>
      <vt:lpstr>幻灯片 15</vt:lpstr>
      <vt:lpstr>Example 2</vt:lpstr>
      <vt:lpstr>幻灯片 17</vt:lpstr>
      <vt:lpstr>幻灯片 18</vt:lpstr>
      <vt:lpstr>幻灯片 19</vt:lpstr>
      <vt:lpstr>Conclusion</vt:lpstr>
    </vt:vector>
  </TitlesOfParts>
  <Company>Cross Media - die Daten und Netz GmbH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Modelling and Forecasting Seasonal Time Series using the ARMA-version of the Berlin Method   Jing  Ma </dc:title>
  <dc:creator>Jing</dc:creator>
  <cp:lastModifiedBy>jing</cp:lastModifiedBy>
  <cp:revision>339</cp:revision>
  <dcterms:created xsi:type="dcterms:W3CDTF">2007-06-18T08:13:23Z</dcterms:created>
  <dcterms:modified xsi:type="dcterms:W3CDTF">2009-11-11T12:07:59Z</dcterms:modified>
</cp:coreProperties>
</file>